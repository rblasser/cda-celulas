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074594"/>
          </a:solidFill>
          <a:ln w="25400"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d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97280"/>
            <a:ext cx="3474720" cy="16955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188720" y="2468880"/>
            <a:ext cx="4389120" cy="384048"/>
          </a:xfrm>
          <a:prstGeom prst="round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042D62"/>
                </a:solidFill>
              </a:defRPr>
            </a:pPr>
            <a:r>
              <a:t>PORTAFOLIO DE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718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Células de Innovación con IA</a:t>
            </a:r>
          </a:p>
          <a:p>
            <a:pPr>
              <a:spcBef>
                <a:spcPts val="800"/>
              </a:spcBef>
              <a:defRPr sz="2000">
                <a:solidFill>
                  <a:srgbClr val="C3E6FF"/>
                </a:solidFill>
              </a:defRPr>
            </a:pPr>
            <a:r>
              <a:t>Diseño de Soluciones: Asesor de Feria de Autos y Formalización de Préstamos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434840"/>
            <a:ext cx="9601200" cy="27432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617720"/>
            <a:ext cx="9601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Audiencia: Vicepresidencia de Negocio, Dirección de Operaciones, Canales y Riesgo de Crédito</a:t>
            </a:r>
          </a:p>
          <a:p>
            <a:pPr>
              <a:spcBef>
                <a:spcPts val="400"/>
              </a:spcBef>
              <a:defRPr sz="1100">
                <a:solidFill>
                  <a:srgbClr val="B4D7FA"/>
                </a:solidFill>
              </a:defRPr>
            </a:pPr>
            <a:r>
              <a:t>Desarrollado por: Célula de Innovación (StraTech / Caja de Ahorros)  •  Líder Técnico: Rodolfo Blasser  •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A4E4"/>
                </a:solidFill>
              </a:defRPr>
            </a:pPr>
            <a:r>
              <a:t>PORTAFOLIO DE INNOVACIÓN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Visión Estratégica: Dos Soluciones para Acelerar el Negocio</a:t>
            </a:r>
          </a:p>
        </p:txBody>
      </p:sp>
      <p:pic>
        <p:nvPicPr>
          <p:cNvPr id="6" name="Picture 5" descr="cd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7160"/>
            <a:ext cx="1920240" cy="937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0F8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109441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5A6982"/>
                </a:solidFill>
              </a:defRPr>
            </a:pPr>
            <a:r>
              <a:t>Caja de Ahorros de Panamá  |  Iniciativa de Innovación Tecnológica (StraTech &amp; CDA)  |  Uso Exclusivo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2240"/>
                </a:solidFill>
              </a:defRPr>
            </a:pPr>
            <a:r>
              <a:t>La Célula de Innovación ha diseñado dos herramientas complementarias que impactan directamente el ciclo de vida del cliente: desde la captación comercial inmediata en ferias hasta la rápida entrega del dinero en operaciones de préstamo.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30352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4937760" cy="594360"/>
          </a:xfrm>
          <a:prstGeom prst="roundRect">
            <a:avLst/>
          </a:prstGeom>
          <a:solidFill>
            <a:srgbClr val="EEF6FF"/>
          </a:solidFill>
          <a:ln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074594"/>
                </a:solidFill>
              </a:defRPr>
            </a:pPr>
            <a:r>
              <a:t>PRODUCTO 01: Venta y Canales</a:t>
            </a:r>
          </a:p>
          <a:p>
            <a:pPr>
              <a:defRPr sz="1050">
                <a:solidFill>
                  <a:srgbClr val="0F2240"/>
                </a:solidFill>
              </a:defRPr>
            </a:pPr>
            <a:r>
              <a:t>Asesor Virtual para Feria de Autos (Front-Office)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74594"/>
                </a:solidFill>
              </a:defRPr>
            </a:pPr>
            <a:r>
              <a:t>• Objetivo de Negocio: </a:t>
            </a:r>
            <a:r>
              <a:rPr b="0" sz="1000">
                <a:solidFill>
                  <a:srgbClr val="0F2240"/>
                </a:solidFill>
              </a:rPr>
              <a:t>Capturar prospectos en stands abarrotados (Panamá Motor Show), reduciendo tiempos de espera de 20 min a 2 min.</a:t>
            </a:r>
          </a:p>
          <a:p>
            <a:pPr>
              <a:spcBef>
                <a:spcPts val="600"/>
              </a:spcBef>
              <a:defRPr b="1" sz="1050">
                <a:solidFill>
                  <a:srgbClr val="074594"/>
                </a:solidFill>
              </a:defRPr>
            </a:pPr>
            <a:r>
              <a:t>• Rol de la IA: </a:t>
            </a:r>
            <a:r>
              <a:rPr b="0" sz="1000">
                <a:solidFill>
                  <a:srgbClr val="0F2240"/>
                </a:solidFill>
              </a:rPr>
              <a:t>Interacción natural y amigable que califica al cliente según la política crediticia oficial de Caja de Ahorros.</a:t>
            </a:r>
          </a:p>
          <a:p>
            <a:pPr>
              <a:spcBef>
                <a:spcPts val="600"/>
              </a:spcBef>
              <a:defRPr b="1" sz="1050">
                <a:solidFill>
                  <a:srgbClr val="074594"/>
                </a:solidFill>
              </a:defRPr>
            </a:pPr>
            <a:r>
              <a:t>• Simulación en Vivo: </a:t>
            </a:r>
            <a:r>
              <a:rPr b="0" sz="1000">
                <a:solidFill>
                  <a:srgbClr val="0F2240"/>
                </a:solidFill>
              </a:rPr>
              <a:t>Calcula abono mínimo, plazo y letra quincenal/mensual con base en la marca y valor del auto.</a:t>
            </a:r>
          </a:p>
          <a:p>
            <a:pPr>
              <a:spcBef>
                <a:spcPts val="600"/>
              </a:spcBef>
              <a:defRPr b="1" sz="1050">
                <a:solidFill>
                  <a:srgbClr val="074594"/>
                </a:solidFill>
              </a:defRPr>
            </a:pPr>
            <a:r>
              <a:t>• Entregable al Negocio: </a:t>
            </a:r>
            <a:r>
              <a:rPr b="0" sz="1000">
                <a:solidFill>
                  <a:srgbClr val="0F2240"/>
                </a:solidFill>
              </a:rPr>
              <a:t>Lead calificado entregado en segundos al ejecutivo comercial en el stand para cierre inmediato.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23560"/>
            <a:ext cx="4937760" cy="502920"/>
          </a:xfrm>
          <a:prstGeom prst="roundRect">
            <a:avLst/>
          </a:prstGeom>
          <a:solidFill>
            <a:srgbClr val="EEF6FF"/>
          </a:solidFill>
          <a:ln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74594"/>
                </a:solidFill>
              </a:defRPr>
            </a:pPr>
            <a:r>
              <a:t>Tiempo de Atención: De 20 min a 90 seg  |  +40% Captura de Prospectos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39496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20240"/>
            <a:ext cx="502920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50">
                <a:solidFill>
                  <a:srgbClr val="16A34A"/>
                </a:solidFill>
              </a:defRPr>
            </a:pPr>
            <a:r>
              <a:t>PRODUCTO 02: Operaciones y Eficiencia</a:t>
            </a:r>
          </a:p>
          <a:p>
            <a:pPr>
              <a:defRPr sz="1050">
                <a:solidFill>
                  <a:srgbClr val="0F2240"/>
                </a:solidFill>
              </a:defRPr>
            </a:pPr>
            <a:r>
              <a:t>Asistente Desacoplado de Formalización (Back-Office)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060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6A34A"/>
                </a:solidFill>
              </a:defRPr>
            </a:pPr>
            <a:r>
              <a:t>• Objetivo de Negocio: </a:t>
            </a:r>
            <a:r>
              <a:rPr b="0" sz="1000">
                <a:solidFill>
                  <a:srgbClr val="0F2240"/>
                </a:solidFill>
              </a:rPr>
              <a:t>Acelerar la confección y firma de préstamos personales aprobados sin alterar sistemas bancarios (Cero riesgo de IT).</a:t>
            </a:r>
          </a:p>
          <a:p>
            <a:pPr>
              <a:spcBef>
                <a:spcPts val="600"/>
              </a:spcBef>
              <a:defRPr b="1" sz="1050">
                <a:solidFill>
                  <a:srgbClr val="16A34A"/>
                </a:solidFill>
              </a:defRPr>
            </a:pPr>
            <a:r>
              <a:t>• Auditoría y Semáforo: </a:t>
            </a:r>
            <a:r>
              <a:rPr b="0" sz="1000">
                <a:solidFill>
                  <a:srgbClr val="0F2240"/>
                </a:solidFill>
              </a:rPr>
              <a:t>Filtra en 5 seg expedientes incompletos; detiene casos de jubilados sin certificado de CSS (evita 20 días de espera).</a:t>
            </a:r>
          </a:p>
          <a:p>
            <a:pPr>
              <a:spcBef>
                <a:spcPts val="600"/>
              </a:spcBef>
              <a:defRPr b="1" sz="1050">
                <a:solidFill>
                  <a:srgbClr val="16A34A"/>
                </a:solidFill>
              </a:defRPr>
            </a:pPr>
            <a:r>
              <a:t>• Smart Clipboard: </a:t>
            </a:r>
            <a:r>
              <a:rPr b="0" sz="1000">
                <a:solidFill>
                  <a:srgbClr val="0F2240"/>
                </a:solidFill>
              </a:rPr>
              <a:t>Extracción de cartas y talonarios de Contraloría. Copiado en 1 clic hacia Ultimus (de 10 min a 40 seg, 0% error tipeo).</a:t>
            </a:r>
          </a:p>
          <a:p>
            <a:pPr>
              <a:spcBef>
                <a:spcPts val="600"/>
              </a:spcBef>
              <a:defRPr b="1" sz="1050">
                <a:solidFill>
                  <a:srgbClr val="16A34A"/>
                </a:solidFill>
              </a:defRPr>
            </a:pPr>
            <a:r>
              <a:t>• Ensamblador Contractual: </a:t>
            </a:r>
            <a:r>
              <a:rPr b="0" sz="1000">
                <a:solidFill>
                  <a:srgbClr val="0F2240"/>
                </a:solidFill>
              </a:rPr>
              <a:t>Procesa cartas de saldo de otros bancos y genera pagarés y promesas de pago listas para firma del cliente en 15 seg.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623560"/>
            <a:ext cx="502920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6A34A"/>
                </a:solidFill>
              </a:defRPr>
            </a:pPr>
            <a:r>
              <a:t>Reducción Operativa: De 60 min a 2 min por préstamo  |  0% Error en Core IBS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A4E4"/>
                </a:solidFill>
              </a:defRPr>
            </a:pPr>
            <a:r>
              <a:t>PRODUCTO 01 — ASESOR VIRTUAL DE AUTO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Agente para Feria de Autos: El Reto en el Stand Comercial</a:t>
            </a:r>
          </a:p>
        </p:txBody>
      </p:sp>
      <p:pic>
        <p:nvPicPr>
          <p:cNvPr id="6" name="Picture 5" descr="cd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7160"/>
            <a:ext cx="1920240" cy="937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0F8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109441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5A6982"/>
                </a:solidFill>
              </a:defRPr>
            </a:pPr>
            <a:r>
              <a:t>Caja de Ahorros de Panamá  |  Iniciativa de Innovación Tecnológica (StraTech &amp; CDA)  |  Uso Exclusivo de Negocio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La Fricción Operativa Actual en Ferias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DC2626"/>
                </a:solidFill>
              </a:defRPr>
            </a:pPr>
            <a:r>
              <a:t>• Aglomeración en Horas Pico: </a:t>
            </a:r>
            <a:r>
              <a:rPr b="0" sz="1000">
                <a:solidFill>
                  <a:srgbClr val="0F2240"/>
                </a:solidFill>
              </a:rPr>
              <a:t>Durante ferias como Panamá Motor Show, decenas de personas se acercan al stand simultáneamente; los ejecutivos no dan abasto.</a:t>
            </a:r>
          </a:p>
          <a:p>
            <a:pPr>
              <a:spcBef>
                <a:spcPts val="800"/>
              </a:spcBef>
              <a:defRPr b="1" sz="1050">
                <a:solidFill>
                  <a:srgbClr val="DC2626"/>
                </a:solidFill>
              </a:defRPr>
            </a:pPr>
            <a:r>
              <a:t>• Pérdida de Prospectos Calificados: </a:t>
            </a:r>
            <a:r>
              <a:rPr b="0" sz="1000">
                <a:solidFill>
                  <a:srgbClr val="0F2240"/>
                </a:solidFill>
              </a:rPr>
              <a:t>Los clientes que esperan más de 10 minutos se marchan a stands de bancos competidores sin cotizar.</a:t>
            </a:r>
          </a:p>
          <a:p>
            <a:pPr>
              <a:spcBef>
                <a:spcPts val="800"/>
              </a:spcBef>
              <a:defRPr b="1" sz="1050">
                <a:solidFill>
                  <a:srgbClr val="DC2626"/>
                </a:solidFill>
              </a:defRPr>
            </a:pPr>
            <a:r>
              <a:t>• Consultas Repetitivas y Básicas: </a:t>
            </a:r>
            <a:r>
              <a:rPr b="0" sz="1000">
                <a:solidFill>
                  <a:srgbClr val="0F2240"/>
                </a:solidFill>
              </a:rPr>
              <a:t>El 70% del tiempo de los ejecutivos se consume respondiendo: '¿Cuánto tengo que pagar por este auto?' o '¿Califico con mi salario?'.</a:t>
            </a:r>
          </a:p>
          <a:p>
            <a:pPr>
              <a:spcBef>
                <a:spcPts val="800"/>
              </a:spcBef>
              <a:defRPr b="1" sz="1050">
                <a:solidFill>
                  <a:srgbClr val="DC2626"/>
                </a:solidFill>
              </a:defRPr>
            </a:pPr>
            <a:r>
              <a:t>• Leads Incompletos en Papel: </a:t>
            </a:r>
            <a:r>
              <a:rPr b="0" sz="1000">
                <a:solidFill>
                  <a:srgbClr val="0F2240"/>
                </a:solidFill>
              </a:rPr>
              <a:t>Anotaciones en volantes que luego se extravían o tardan días en registrarse en el sistema bancario.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94960" cy="49377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La Propuesta de Valor del Asesor Virtual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6A34A"/>
                </a:solidFill>
              </a:defRPr>
            </a:pPr>
            <a:r>
              <a:t>• Atención Simultánea e Ilimitada: </a:t>
            </a:r>
            <a:r>
              <a:rPr b="0" sz="1000">
                <a:solidFill>
                  <a:srgbClr val="0F2240"/>
                </a:solidFill>
              </a:rPr>
              <a:t>Los clientes interactúan desde tótems táctiles, tablets en el stand o escaneando un código QR en su celular.</a:t>
            </a:r>
          </a:p>
          <a:p>
            <a:pPr>
              <a:spcBef>
                <a:spcPts val="800"/>
              </a:spcBef>
              <a:defRPr b="1" sz="1050">
                <a:solidFill>
                  <a:srgbClr val="16A34A"/>
                </a:solidFill>
              </a:defRPr>
            </a:pPr>
            <a:r>
              <a:t>• Calificación Inteligente en 90 Segundos: </a:t>
            </a:r>
            <a:r>
              <a:rPr b="0" sz="1000">
                <a:solidFill>
                  <a:srgbClr val="0F2240"/>
                </a:solidFill>
              </a:rPr>
              <a:t>Filtra según la política de crédito CDA (edad 21-75, ingresos mínimos, estabilidad laboral) sin fricción.</a:t>
            </a:r>
          </a:p>
          <a:p>
            <a:pPr>
              <a:spcBef>
                <a:spcPts val="800"/>
              </a:spcBef>
              <a:defRPr b="1" sz="1050">
                <a:solidFill>
                  <a:srgbClr val="16A34A"/>
                </a:solidFill>
              </a:defRPr>
            </a:pPr>
            <a:r>
              <a:t>• Simulación Visual y Transparente: </a:t>
            </a:r>
            <a:r>
              <a:rPr b="0" sz="1000">
                <a:solidFill>
                  <a:srgbClr val="0F2240"/>
                </a:solidFill>
              </a:rPr>
              <a:t>Presenta al instante la letra quincenal y mensual estimada, ajustando plazos y abonos al presupuesto del usuario.</a:t>
            </a:r>
          </a:p>
          <a:p>
            <a:pPr>
              <a:spcBef>
                <a:spcPts val="800"/>
              </a:spcBef>
              <a:defRPr b="1" sz="1050">
                <a:solidFill>
                  <a:srgbClr val="16A34A"/>
                </a:solidFill>
              </a:defRPr>
            </a:pPr>
            <a:r>
              <a:t>• Cierre Asistido para el Ejecutivo: </a:t>
            </a:r>
            <a:r>
              <a:rPr b="0" sz="1000">
                <a:solidFill>
                  <a:srgbClr val="0F2240"/>
                </a:solidFill>
              </a:rPr>
              <a:t>El lead llega formalizado al CRM o correo del ejecutivo del stand con la cotización exacta para firmar la solicitud multiproducto.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A4E4"/>
                </a:solidFill>
              </a:defRPr>
            </a:pPr>
            <a:r>
              <a:t>DIAGRAMA DE EXPERIENCIA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Agente para Feria de Autos: Flujo de Interacción del Cliente</a:t>
            </a:r>
          </a:p>
        </p:txBody>
      </p:sp>
      <p:pic>
        <p:nvPicPr>
          <p:cNvPr id="6" name="Picture 5" descr="cd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7160"/>
            <a:ext cx="1920240" cy="937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0F8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109441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5A6982"/>
                </a:solidFill>
              </a:defRPr>
            </a:pPr>
            <a:r>
              <a:t>Caja de Ahorros de Panamá  |  Iniciativa de Innovación Tecnológica (StraTech &amp; CDA)  |  Uso Exclusivo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2240"/>
                </a:solidFill>
              </a:defRPr>
            </a:pPr>
            <a:r>
              <a:t>Flujo paso a paso diseñado para maximizar la conversión en stand, garantizando rigor de crédito en 4 etapas fluidas: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256032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2560320" cy="41148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PASO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74594"/>
                </a:solidFill>
              </a:defRPr>
            </a:pPr>
            <a:r>
              <a:t>Bienvenida y Prospección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2240"/>
                </a:solidFill>
              </a:defRPr>
            </a:pPr>
            <a:r>
              <a:t>• Cliente escanea QR o toca pantalla.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IA saluda cordialmente e indaga marca y modelo de interés.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Pregunta si es auto nuevo o de segunda.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Tono cercano, empático y 100% institucional.</a:t>
            </a:r>
          </a:p>
        </p:txBody>
      </p:sp>
      <p:sp>
        <p:nvSpPr>
          <p:cNvPr id="14" name="Chevron 13"/>
          <p:cNvSpPr/>
          <p:nvPr/>
        </p:nvSpPr>
        <p:spPr>
          <a:xfrm>
            <a:off x="3163824" y="3383280"/>
            <a:ext cx="164592" cy="457200"/>
          </a:xfrm>
          <a:prstGeom prst="chevron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4992" y="1737360"/>
            <a:ext cx="256032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4992" y="1737360"/>
            <a:ext cx="2560320" cy="4114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PASO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240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97706"/>
                </a:solidFill>
              </a:defRPr>
            </a:pPr>
            <a:r>
              <a:t>Filtro de Política CDA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880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2240"/>
                </a:solidFill>
              </a:defRPr>
            </a:pPr>
            <a:r>
              <a:t>• Verifica edad del solicitante (21 a 75 años al vencer el crédito).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Consulta ingreso mensual aproximado.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Valida tipo de empleo (empresa privada, gobierno o independiente).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Filtra viabilidad antes de ilusionar al cliente.</a:t>
            </a:r>
          </a:p>
        </p:txBody>
      </p:sp>
      <p:sp>
        <p:nvSpPr>
          <p:cNvPr id="19" name="Chevron 18"/>
          <p:cNvSpPr/>
          <p:nvPr/>
        </p:nvSpPr>
        <p:spPr>
          <a:xfrm>
            <a:off x="5980176" y="3383280"/>
            <a:ext cx="164592" cy="457200"/>
          </a:xfrm>
          <a:prstGeom prst="chevron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81344" y="1737360"/>
            <a:ext cx="256032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37360"/>
            <a:ext cx="2560320" cy="411480"/>
          </a:xfrm>
          <a:prstGeom prst="rect">
            <a:avLst/>
          </a:prstGeom>
          <a:solidFill>
            <a:srgbClr val="00A4E4"/>
          </a:solidFill>
          <a:ln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PASO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240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0A4E4"/>
                </a:solidFill>
              </a:defRPr>
            </a:pPr>
            <a:r>
              <a:t>Simulación de Cuota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880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2240"/>
                </a:solidFill>
              </a:defRPr>
            </a:pPr>
            <a:r>
              <a:t>• Aplica parámetros oficiales de tasa y plazo CDA.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Calcula cuota mensual y quincenal.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Permite al cliente ajustar abono (ej. 10%, 15%, 20%) para ver cómo baja su letra.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Calcula capacidad de pago en segundos.</a:t>
            </a:r>
          </a:p>
        </p:txBody>
      </p:sp>
      <p:sp>
        <p:nvSpPr>
          <p:cNvPr id="24" name="Chevron 23"/>
          <p:cNvSpPr/>
          <p:nvPr/>
        </p:nvSpPr>
        <p:spPr>
          <a:xfrm>
            <a:off x="8796528" y="3383280"/>
            <a:ext cx="164592" cy="457200"/>
          </a:xfrm>
          <a:prstGeom prst="chevron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97696" y="1737360"/>
            <a:ext cx="256032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97696" y="1737360"/>
            <a:ext cx="2560320" cy="4114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PASO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2240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6A34A"/>
                </a:solidFill>
              </a:defRPr>
            </a:pPr>
            <a:r>
              <a:t>Captura y Cierre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2880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2240"/>
                </a:solidFill>
              </a:defRPr>
            </a:pPr>
            <a:r>
              <a:t>• Captura Nombre, Cédula, Teléfono y Correo.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Genera Ficha de Lead Calificado en PDF/JSON.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Notifica en tiempo real al ejecutivo comercial del stand.</a:t>
            </a:r>
          </a:p>
          <a:p>
            <a:pPr>
              <a:spcBef>
                <a:spcPts val="600"/>
              </a:spcBef>
              <a:defRPr sz="1000">
                <a:solidFill>
                  <a:srgbClr val="0F2240"/>
                </a:solidFill>
              </a:defRPr>
            </a:pPr>
            <a:r>
              <a:t>• Cliente recibe la proforma en su WhatsApp.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715000"/>
            <a:ext cx="11094415" cy="640080"/>
          </a:xfrm>
          <a:prstGeom prst="roundRect">
            <a:avLst/>
          </a:prstGeom>
          <a:solidFill>
            <a:srgbClr val="ECFDF5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07832"/>
                </a:solidFill>
              </a:defRPr>
            </a:pPr>
            <a:r>
              <a:t>Impacto Operativo para el Banco: Reduce el tiempo de cotización de 20 minutos a 90 segundos. El ejecutivo del stand recibe un prospecto 100% calificado según política, eliminando clientes fuera de perfil y cerrando ventas en el acto.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A4E4"/>
                </a:solidFill>
              </a:defRPr>
            </a:pPr>
            <a:r>
              <a:t>PRODUCTO 02 — FORMALIZACIÓN DE PRÉSTAMOS PERSONALES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Formalización de Préstamos: Cuellos de Botella Reales</a:t>
            </a:r>
          </a:p>
        </p:txBody>
      </p:sp>
      <p:pic>
        <p:nvPicPr>
          <p:cNvPr id="6" name="Picture 5" descr="cd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7160"/>
            <a:ext cx="1920240" cy="937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0F8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109441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5A6982"/>
                </a:solidFill>
              </a:defRPr>
            </a:pPr>
            <a:r>
              <a:t>Caja de Ahorros de Panamá  |  Iniciativa de Innovación Tecnológica (StraTech &amp; CDA)  |  Uso Exclusivo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2240"/>
                </a:solidFill>
              </a:defRPr>
            </a:pPr>
            <a:r>
              <a:t>Una vez el crédito es aprobado por el comité o ejecutivo, comienza la formalización para que el cliente firme y reciba su desembolso. Las sesiones de trabajo con Crédito (Ricardo Herrera) revelaron 3 stoppers críticos: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347472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474720" cy="47548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Stopper 01: Certificado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DC2626"/>
                </a:solidFill>
              </a:defRPr>
            </a:pPr>
            <a:r>
              <a:t>Situación en Jubilados: </a:t>
            </a:r>
            <a:r>
              <a:rPr b="0" sz="950">
                <a:solidFill>
                  <a:srgbClr val="0F2240"/>
                </a:solidFill>
              </a:rPr>
              <a:t>Para firmar la orden de descuento, se requiere obligatoriamente el certificado físico de jubilación.</a:t>
            </a:r>
          </a:p>
          <a:p>
            <a:pPr>
              <a:spcBef>
                <a:spcPts val="600"/>
              </a:spcBef>
              <a:defRPr b="1" sz="1000">
                <a:solidFill>
                  <a:srgbClr val="DC2626"/>
                </a:solidFill>
              </a:defRPr>
            </a:pPr>
            <a:r>
              <a:t>Demora de 7 a 20 Días: </a:t>
            </a:r>
            <a:r>
              <a:rPr b="0" sz="950">
                <a:solidFill>
                  <a:srgbClr val="0F2240"/>
                </a:solidFill>
              </a:rPr>
              <a:t>Este documento depende de la CSS y demora semanas. Si el analista avanza en Ultimus sin él, el expediente queda bloqueado.</a:t>
            </a:r>
          </a:p>
          <a:p>
            <a:pPr>
              <a:spcBef>
                <a:spcPts val="600"/>
              </a:spcBef>
              <a:defRPr b="1" sz="1000">
                <a:solidFill>
                  <a:srgbClr val="DC2626"/>
                </a:solidFill>
              </a:defRPr>
            </a:pPr>
            <a:r>
              <a:t>Dolor Declarado: </a:t>
            </a:r>
            <a:r>
              <a:rPr b="0" sz="950">
                <a:solidFill>
                  <a:srgbClr val="0F2240"/>
                </a:solidFill>
              </a:rPr>
              <a:t>'Aunque tenga el préstamo aprobado, no puedo mover para que el cliente firme porque necesito ese número para llenar la orden' (Ricardo Herrera).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760719"/>
            <a:ext cx="3200400" cy="41148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DC2626"/>
                </a:solidFill>
              </a:defRPr>
            </a:pPr>
            <a:r>
              <a:t>Demora: 7 a 20 días hábiles en 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783080"/>
            <a:ext cx="347472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1783080"/>
            <a:ext cx="3474720" cy="4754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Stopper 02: Transcripción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33172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D97706"/>
                </a:solidFill>
              </a:defRPr>
            </a:pPr>
            <a:r>
              <a:t>10 a 15 Campos a Mano: </a:t>
            </a:r>
            <a:r>
              <a:rPr b="0" sz="950">
                <a:solidFill>
                  <a:srgbClr val="0F2240"/>
                </a:solidFill>
              </a:rPr>
              <a:t>El analista debe transcribir manualmente salarios, descuentos, deducciones y razón social desde PDFs no estandarizados.</a:t>
            </a:r>
          </a:p>
          <a:p>
            <a:pPr>
              <a:spcBef>
                <a:spcPts val="600"/>
              </a:spcBef>
              <a:defRPr b="1" sz="1000">
                <a:solidFill>
                  <a:srgbClr val="D97706"/>
                </a:solidFill>
              </a:defRPr>
            </a:pPr>
            <a:r>
              <a:t>Grilla Densa de Contraloría: </a:t>
            </a:r>
            <a:r>
              <a:rPr b="0" sz="950">
                <a:solidFill>
                  <a:srgbClr val="0F2240"/>
                </a:solidFill>
              </a:rPr>
              <a:t>Debe buscar 'con lupa' el número de Planilla (ej. 14) y Posición (ej. 101010) en talonarios diminutos.</a:t>
            </a:r>
          </a:p>
          <a:p>
            <a:pPr>
              <a:spcBef>
                <a:spcPts val="600"/>
              </a:spcBef>
              <a:defRPr b="1" sz="1000">
                <a:solidFill>
                  <a:srgbClr val="D97706"/>
                </a:solidFill>
              </a:defRPr>
            </a:pPr>
            <a:r>
              <a:t>Riesgo de Rechazo en IBS: </a:t>
            </a:r>
            <a:r>
              <a:rPr b="0" sz="950">
                <a:solidFill>
                  <a:srgbClr val="0F2240"/>
                </a:solidFill>
              </a:rPr>
              <a:t>Cualquier error tipográfico provoca el rechazo automático de los Web Services hacia el Core Bancario IBS en Ultimus.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9704" y="5760719"/>
            <a:ext cx="3200400" cy="41148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D97706"/>
                </a:solidFill>
              </a:defRPr>
            </a:pPr>
            <a:r>
              <a:t>Riesgo: Errores tipográficos rechazan en IBS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47472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3474720" cy="475488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Stopper 03: Compra de Saldo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33172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74594"/>
                </a:solidFill>
              </a:defRPr>
            </a:pPr>
            <a:r>
              <a:t>Papelería Legal Artesanal: </a:t>
            </a:r>
            <a:r>
              <a:rPr b="0" sz="950">
                <a:solidFill>
                  <a:srgbClr val="0F2240"/>
                </a:solidFill>
              </a:rPr>
              <a:t>Una gran parte de los préstamos cancela deudas en otros bancos (Banco General, BAC, Banistmo, financieras).</a:t>
            </a:r>
          </a:p>
          <a:p>
            <a:pPr>
              <a:spcBef>
                <a:spcPts val="600"/>
              </a:spcBef>
              <a:defRPr b="1" sz="1000">
                <a:solidFill>
                  <a:srgbClr val="074594"/>
                </a:solidFill>
              </a:defRPr>
            </a:pPr>
            <a:r>
              <a:t>Cartas de Promesa de Pago: </a:t>
            </a:r>
            <a:r>
              <a:rPr b="0" sz="950">
                <a:solidFill>
                  <a:srgbClr val="0F2240"/>
                </a:solidFill>
              </a:rPr>
              <a:t>Ultimus no redacta cartas a terceros bancos. El analista abre plantillas Word, busca números de cuenta, saldos y vigencias a mano.</a:t>
            </a:r>
          </a:p>
          <a:p>
            <a:pPr>
              <a:spcBef>
                <a:spcPts val="600"/>
              </a:spcBef>
              <a:defRPr b="1" sz="1000">
                <a:solidFill>
                  <a:srgbClr val="074594"/>
                </a:solidFill>
              </a:defRPr>
            </a:pPr>
            <a:r>
              <a:t>Consumo de Tiempo Humano: </a:t>
            </a:r>
            <a:r>
              <a:rPr b="0" sz="950">
                <a:solidFill>
                  <a:srgbClr val="0F2240"/>
                </a:solidFill>
              </a:rPr>
              <a:t>Redactar pagarés, órdenes de descuento y promesas de pago toma entre 20 y 35 minutos por cliente.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760719"/>
            <a:ext cx="3200400" cy="411480"/>
          </a:xfrm>
          <a:prstGeom prst="roundRect">
            <a:avLst/>
          </a:prstGeom>
          <a:solidFill>
            <a:srgbClr val="EEF6FF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74594"/>
                </a:solidFill>
              </a:defRPr>
            </a:pPr>
            <a:r>
              <a:t>Carga: 20 a 35 min redactando en Word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A4E4"/>
                </a:solidFill>
              </a:defRPr>
            </a:pPr>
            <a:r>
              <a:t>PRODUCTO 02 — PARADIGMA TECNOLÓGICO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Arquitectura Desacoplada: Cero Riesgo Tecnológico e Inmediatez</a:t>
            </a:r>
          </a:p>
        </p:txBody>
      </p:sp>
      <p:pic>
        <p:nvPicPr>
          <p:cNvPr id="6" name="Picture 5" descr="cd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7160"/>
            <a:ext cx="1920240" cy="937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0F8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109441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5A6982"/>
                </a:solidFill>
              </a:defRPr>
            </a:pPr>
            <a:r>
              <a:t>Caja de Ahorros de Panamá  |  Iniciativa de Innovación Tecnológica (StraTech &amp; CDA)  |  Uso Exclusivo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2240"/>
                </a:solidFill>
              </a:defRPr>
            </a:pPr>
            <a:r>
              <a:t>¿Cómo implementamos IA en formalización sin esperar meses por aprobaciones de seguridad, APIs de Ultimus ni accesos al Core IBS? Mediante el paradigma Sidecar Copilot (Asistente Desacoplado):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30352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5303520" cy="411480"/>
          </a:xfrm>
          <a:prstGeom prst="rect">
            <a:avLst/>
          </a:prstGeom>
          <a:solidFill>
            <a:srgbClr val="EEF6FF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074594"/>
                </a:solidFill>
              </a:defRPr>
            </a:pPr>
            <a:r>
              <a:t>Cero Acceso a Ultimus BPM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240"/>
                </a:solidFill>
              </a:defRPr>
            </a:pPr>
            <a:r>
              <a:t>No requiere licencias de desarrollo, RPA invasivos ni APIs propietarias de Ultimus. El sistema no toca el BPM directamente.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30352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5303520" cy="411480"/>
          </a:xfrm>
          <a:prstGeom prst="rect">
            <a:avLst/>
          </a:prstGeom>
          <a:solidFill>
            <a:srgbClr val="EEF6FF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074594"/>
                </a:solidFill>
              </a:defRPr>
            </a:pPr>
            <a:r>
              <a:t>Cero Conexión al Core IBS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240"/>
                </a:solidFill>
              </a:defRPr>
            </a:pPr>
            <a:r>
              <a:t>Elimina cualquier riesgo de corrupción de datos transaccionales bancarios. El analista mantiene la custodia de la transacción final.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530352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5303520" cy="411480"/>
          </a:xfrm>
          <a:prstGeom prst="rect">
            <a:avLst/>
          </a:prstGeom>
          <a:solidFill>
            <a:srgbClr val="EEF6FF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074594"/>
                </a:solidFill>
              </a:defRPr>
            </a:pPr>
            <a:r>
              <a:t>Cero VPN ni Permisos de 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240"/>
                </a:solidFill>
              </a:defRPr>
            </a:pPr>
            <a:r>
              <a:t>Opera como una herramienta web ágil para el analista. No requiere apertura de puertos de firewall internos ni dependencias de Active Directory.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86200"/>
            <a:ext cx="530352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303520" cy="411480"/>
          </a:xfrm>
          <a:prstGeom prst="rect">
            <a:avLst/>
          </a:prstGeom>
          <a:solidFill>
            <a:srgbClr val="EEF6FF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074594"/>
                </a:solidFill>
              </a:defRPr>
            </a:pPr>
            <a:r>
              <a:t>Control Humano (Human-in-the-Loop)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2240"/>
                </a:solidFill>
              </a:defRPr>
            </a:pPr>
            <a:r>
              <a:t>La IA audita, extrae y redacta en segundos; el analista humano valida en pantalla y confirma el ingreso. Máxima seguridad y gobernanza.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97880"/>
            <a:ext cx="11094415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07832"/>
                </a:solidFill>
              </a:defRPr>
            </a:pPr>
            <a:r>
              <a:t>Conclusión para Negocio y Ciberseguridad: Se puede desplegar y probar en días sin riesgo operativo ni auditorías de red complejas.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A4E4"/>
                </a:solidFill>
              </a:defRPr>
            </a:pPr>
            <a:r>
              <a:t>DIAGRAMA DE ARQUITECTURA FUNCIONAL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Los 3 Casos de Uso del Copiloto de Formalización</a:t>
            </a:r>
          </a:p>
        </p:txBody>
      </p:sp>
      <p:pic>
        <p:nvPicPr>
          <p:cNvPr id="6" name="Picture 5" descr="cd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7160"/>
            <a:ext cx="1920240" cy="937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0F8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109441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5A6982"/>
                </a:solidFill>
              </a:defRPr>
            </a:pPr>
            <a:r>
              <a:t>Caja de Ahorros de Panamá  |  Iniciativa de Innovación Tecnológica (StraTech &amp; CDA)  |  Uso Exclusivo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2240"/>
                </a:solidFill>
              </a:defRPr>
            </a:pPr>
            <a:r>
              <a:t>El copiloto acompaña al analista en tres fases continuas, resolviendo cada cuello de botella de manera precisa y medible: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27632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27632"/>
            <a:ext cx="3474720" cy="502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CASO 1: SEMÁFORO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Auditoría Inteligente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3200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16A34A"/>
                </a:solidFill>
              </a:defRPr>
            </a:pPr>
            <a:r>
              <a:t>Insumo: </a:t>
            </a:r>
            <a:r>
              <a:rPr b="0" sz="850">
                <a:solidFill>
                  <a:srgbClr val="0F2240"/>
                </a:solidFill>
              </a:rPr>
              <a:t>Expediente digital del cliente (PDFs de cédula, carta y talonario).</a:t>
            </a:r>
          </a:p>
          <a:p>
            <a:pPr>
              <a:spcBef>
                <a:spcPts val="400"/>
              </a:spcBef>
              <a:defRPr b="1" sz="900">
                <a:solidFill>
                  <a:srgbClr val="16A34A"/>
                </a:solidFill>
              </a:defRPr>
            </a:pPr>
            <a:r>
              <a:t>Qué hace la IA: </a:t>
            </a:r>
            <a:r>
              <a:rPr b="0" sz="850">
                <a:solidFill>
                  <a:srgbClr val="0F2240"/>
                </a:solidFill>
              </a:rPr>
              <a:t>Inspecciona identidad cruzada, vigencias (&lt;30 días) y calendarios (no descuento en diciembre).</a:t>
            </a:r>
          </a:p>
          <a:p>
            <a:pPr>
              <a:spcBef>
                <a:spcPts val="400"/>
              </a:spcBef>
              <a:defRPr b="1" sz="900">
                <a:solidFill>
                  <a:srgbClr val="16A34A"/>
                </a:solidFill>
              </a:defRPr>
            </a:pPr>
            <a:r>
              <a:t>Dictamen Semafórico: </a:t>
            </a:r>
            <a:r>
              <a:rPr b="0" sz="850">
                <a:solidFill>
                  <a:srgbClr val="0F2240"/>
                </a:solidFill>
              </a:rPr>
              <a:t>Clasifica en 3 estados normativos:</a:t>
            </a:r>
          </a:p>
          <a:p>
            <a:pPr>
              <a:spcBef>
                <a:spcPts val="400"/>
              </a:spcBef>
              <a:defRPr b="1" sz="900">
                <a:solidFill>
                  <a:srgbClr val="0F2240"/>
                </a:solidFill>
              </a:defRPr>
            </a:pPr>
            <a:r>
              <a:t>• 🟢 Verde (Conforme): </a:t>
            </a:r>
            <a:r>
              <a:rPr b="0" sz="850">
                <a:solidFill>
                  <a:srgbClr val="0F2240"/>
                </a:solidFill>
              </a:rPr>
              <a:t>Expediente consistente y vigente; listo para formalizar.</a:t>
            </a:r>
          </a:p>
          <a:p>
            <a:pPr>
              <a:spcBef>
                <a:spcPts val="400"/>
              </a:spcBef>
              <a:defRPr b="1" sz="900">
                <a:solidFill>
                  <a:srgbClr val="0F2240"/>
                </a:solidFill>
              </a:defRPr>
            </a:pPr>
            <a:r>
              <a:t>• 🟡 Amarillo (Alerta): </a:t>
            </a:r>
            <a:r>
              <a:rPr b="0" sz="850">
                <a:solidFill>
                  <a:srgbClr val="0F2240"/>
                </a:solidFill>
              </a:rPr>
              <a:t>Vencimiento cercano (&lt;48h); firma prioritaria.</a:t>
            </a:r>
          </a:p>
          <a:p>
            <a:pPr>
              <a:spcBef>
                <a:spcPts val="400"/>
              </a:spcBef>
              <a:defRPr b="1" sz="900">
                <a:solidFill>
                  <a:srgbClr val="0F2240"/>
                </a:solidFill>
              </a:defRPr>
            </a:pPr>
            <a:r>
              <a:t>• 🔴 Rojo (Bloqueo): </a:t>
            </a:r>
            <a:r>
              <a:rPr b="0" sz="850">
                <a:solidFill>
                  <a:srgbClr val="0F2240"/>
                </a:solidFill>
              </a:rPr>
              <a:t>Falta certificado CSS de jubilado o cédula inconsistente; devolución inmediata a sucursal.</a:t>
            </a:r>
          </a:p>
          <a:p>
            <a:pPr>
              <a:spcBef>
                <a:spcPts val="400"/>
              </a:spcBef>
              <a:defRPr b="1" sz="900">
                <a:solidFill>
                  <a:srgbClr val="16A34A"/>
                </a:solidFill>
              </a:defRPr>
            </a:pPr>
            <a:r>
              <a:t>Entrega: </a:t>
            </a:r>
            <a:r>
              <a:rPr b="0" sz="850">
                <a:solidFill>
                  <a:srgbClr val="0F2240"/>
                </a:solidFill>
              </a:rPr>
              <a:t>Ficha de Certificación de Calidad CDA.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52160"/>
            <a:ext cx="3200400" cy="411480"/>
          </a:xfrm>
          <a:prstGeom prst="roundRect">
            <a:avLst/>
          </a:prstGeom>
          <a:solidFill>
            <a:srgbClr val="ECFDF5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16A34A"/>
                </a:solidFill>
              </a:defRPr>
            </a:pPr>
            <a:r>
              <a:t>Semáforo: 🟢 Verde  |  🟡 Amarillo  |  🔴 Rojo</a:t>
            </a:r>
          </a:p>
        </p:txBody>
      </p:sp>
      <p:sp>
        <p:nvSpPr>
          <p:cNvPr id="14" name="Chevron 13"/>
          <p:cNvSpPr/>
          <p:nvPr/>
        </p:nvSpPr>
        <p:spPr>
          <a:xfrm>
            <a:off x="4096512" y="3639312"/>
            <a:ext cx="182880" cy="502920"/>
          </a:xfrm>
          <a:prstGeom prst="chevron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52544" y="1627632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627632"/>
            <a:ext cx="3474720" cy="502920"/>
          </a:xfrm>
          <a:prstGeom prst="rect">
            <a:avLst/>
          </a:prstGeom>
          <a:solidFill>
            <a:srgbClr val="00A4E4"/>
          </a:solidFill>
          <a:ln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CASO 2: SMART CLIPBOARD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Extracción Estructurada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194560"/>
            <a:ext cx="3200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00A4E4"/>
                </a:solidFill>
              </a:defRPr>
            </a:pPr>
            <a:r>
              <a:t>Insumo: </a:t>
            </a:r>
            <a:r>
              <a:rPr b="0" sz="850">
                <a:solidFill>
                  <a:srgbClr val="0F2240"/>
                </a:solidFill>
              </a:rPr>
              <a:t>Carta de trabajo y talonario comprobante.</a:t>
            </a:r>
          </a:p>
          <a:p>
            <a:pPr>
              <a:spcBef>
                <a:spcPts val="400"/>
              </a:spcBef>
              <a:defRPr b="1" sz="900">
                <a:solidFill>
                  <a:srgbClr val="00A4E4"/>
                </a:solidFill>
              </a:defRPr>
            </a:pPr>
            <a:r>
              <a:t>Qué hace la IA: </a:t>
            </a:r>
            <a:r>
              <a:rPr b="0" sz="850">
                <a:solidFill>
                  <a:srgbClr val="0F2240"/>
                </a:solidFill>
              </a:rPr>
              <a:t>Lee tablas complejas y ubica con precisión espacial 'PLANILLA' y 'POSICIÓN' de Contraloría.</a:t>
            </a:r>
          </a:p>
          <a:p>
            <a:pPr>
              <a:spcBef>
                <a:spcPts val="400"/>
              </a:spcBef>
              <a:defRPr b="1" sz="900">
                <a:solidFill>
                  <a:srgbClr val="00A4E4"/>
                </a:solidFill>
              </a:defRPr>
            </a:pPr>
            <a:r>
              <a:t>Reconciliación: </a:t>
            </a:r>
            <a:r>
              <a:rPr b="0" sz="850">
                <a:solidFill>
                  <a:srgbClr val="0F2240"/>
                </a:solidFill>
              </a:rPr>
              <a:t>Verifica matemáticamente que Salario Bruto - Descuentos = Salario Neto.</a:t>
            </a:r>
          </a:p>
          <a:p>
            <a:pPr>
              <a:spcBef>
                <a:spcPts val="400"/>
              </a:spcBef>
              <a:defRPr b="1" sz="900">
                <a:solidFill>
                  <a:srgbClr val="00A4E4"/>
                </a:solidFill>
              </a:defRPr>
            </a:pPr>
            <a:r>
              <a:t>Interacción Humana: </a:t>
            </a:r>
            <a:r>
              <a:rPr b="0" sz="850">
                <a:solidFill>
                  <a:srgbClr val="0F2240"/>
                </a:solidFill>
              </a:rPr>
              <a:t>Panel con botón 'Copiar' (1 clic). El analista copia y pega (Ctrl+V) en Ultimus BPM en pantalla dividida.</a:t>
            </a:r>
          </a:p>
          <a:p>
            <a:pPr>
              <a:spcBef>
                <a:spcPts val="400"/>
              </a:spcBef>
              <a:defRPr b="1" sz="900">
                <a:solidFill>
                  <a:srgbClr val="00A4E4"/>
                </a:solidFill>
              </a:defRPr>
            </a:pPr>
            <a:r>
              <a:t>Impacto: </a:t>
            </a:r>
            <a:r>
              <a:rPr b="0" sz="850">
                <a:solidFill>
                  <a:srgbClr val="0F2240"/>
                </a:solidFill>
              </a:rPr>
              <a:t>De 10 min a 40 segundos, con 0% error.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9704" y="5852160"/>
            <a:ext cx="3200400" cy="411480"/>
          </a:xfrm>
          <a:prstGeom prst="roundRect">
            <a:avLst/>
          </a:prstGeom>
          <a:solidFill>
            <a:srgbClr val="EEF6FF"/>
          </a:solidFill>
          <a:ln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0A4E4"/>
                </a:solidFill>
              </a:defRPr>
            </a:pPr>
            <a:r>
              <a:t>Smart Clipboard: De 10 min a 40 seg | Cero error</a:t>
            </a:r>
          </a:p>
        </p:txBody>
      </p:sp>
      <p:sp>
        <p:nvSpPr>
          <p:cNvPr id="19" name="Chevron 18"/>
          <p:cNvSpPr/>
          <p:nvPr/>
        </p:nvSpPr>
        <p:spPr>
          <a:xfrm>
            <a:off x="7900416" y="3639312"/>
            <a:ext cx="182880" cy="502920"/>
          </a:xfrm>
          <a:prstGeom prst="chevron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56448" y="1627632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1627632"/>
            <a:ext cx="3474720" cy="50292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CASO 3: ENSAMBLADOR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Confección Contractual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194560"/>
            <a:ext cx="3200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074594"/>
                </a:solidFill>
              </a:defRPr>
            </a:pPr>
            <a:r>
              <a:t>Insumo: </a:t>
            </a:r>
            <a:r>
              <a:rPr b="0" sz="850">
                <a:solidFill>
                  <a:srgbClr val="0F2240"/>
                </a:solidFill>
              </a:rPr>
              <a:t>Cartas de saldo externas (BG, BAC, Banistmo) y condiciones aprobadas CDA.</a:t>
            </a:r>
          </a:p>
          <a:p>
            <a:pPr>
              <a:spcBef>
                <a:spcPts val="400"/>
              </a:spcBef>
              <a:defRPr b="1" sz="900">
                <a:solidFill>
                  <a:srgbClr val="074594"/>
                </a:solidFill>
              </a:defRPr>
            </a:pPr>
            <a:r>
              <a:t>Qué hace la IA: </a:t>
            </a:r>
            <a:r>
              <a:rPr b="0" sz="850">
                <a:solidFill>
                  <a:srgbClr val="0F2240"/>
                </a:solidFill>
              </a:rPr>
              <a:t>Extrae banco acreedor, cuenta/tarjeta a pagar, saldo exacto y fecha límite de vigencia.</a:t>
            </a:r>
          </a:p>
          <a:p>
            <a:pPr>
              <a:spcBef>
                <a:spcPts val="400"/>
              </a:spcBef>
              <a:defRPr b="1" sz="900">
                <a:solidFill>
                  <a:srgbClr val="074594"/>
                </a:solidFill>
              </a:defRPr>
            </a:pPr>
            <a:r>
              <a:t>Templating Legal: </a:t>
            </a:r>
            <a:r>
              <a:rPr b="0" sz="850">
                <a:solidFill>
                  <a:srgbClr val="0F2240"/>
                </a:solidFill>
              </a:rPr>
              <a:t>Inyecta los datos sobre plantillas oficiales .docx de Caja de Ahorros.</a:t>
            </a:r>
          </a:p>
          <a:p>
            <a:pPr>
              <a:spcBef>
                <a:spcPts val="400"/>
              </a:spcBef>
              <a:defRPr b="1" sz="900">
                <a:solidFill>
                  <a:srgbClr val="074594"/>
                </a:solidFill>
              </a:defRPr>
            </a:pPr>
            <a:r>
              <a:t>Entrega: </a:t>
            </a:r>
            <a:r>
              <a:rPr b="0" sz="850">
                <a:solidFill>
                  <a:srgbClr val="0F2240"/>
                </a:solidFill>
              </a:rPr>
              <a:t>Paquete Contractual Completo (.docx y .pdf) listo para firma (Promesas de pago, pagaré notarial, órdenes de descuento).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5852160"/>
            <a:ext cx="3200400" cy="411480"/>
          </a:xfrm>
          <a:prstGeom prst="roundRect">
            <a:avLst/>
          </a:prstGeom>
          <a:solidFill>
            <a:srgbClr val="EEF6FF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074594"/>
                </a:solidFill>
              </a:defRPr>
            </a:pPr>
            <a:r>
              <a:t>Contratos: De 30 min a 15 seg en .docx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A4E4"/>
                </a:solidFill>
              </a:defRPr>
            </a:pPr>
            <a:r>
              <a:t>MÉTRICAS DE EFICIENCIA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Impacto Cuantitativo: Proceso Tradicional vs. Asistente IA</a:t>
            </a:r>
          </a:p>
        </p:txBody>
      </p:sp>
      <p:pic>
        <p:nvPicPr>
          <p:cNvPr id="6" name="Picture 5" descr="cd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7160"/>
            <a:ext cx="1920240" cy="937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0F8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109441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5A6982"/>
                </a:solidFill>
              </a:defRPr>
            </a:pPr>
            <a:r>
              <a:t>Caja de Ahorros de Panamá  |  Iniciativa de Innovación Tecnológica (StraTech &amp; CDA)  |  Uso Exclusivo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2240"/>
                </a:solidFill>
              </a:defRPr>
            </a:pPr>
            <a:r>
              <a:t>Comparativa directa de tiempos y calidad operativa en la formalización de préstamos personales: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72768"/>
          <a:ext cx="1109441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017520"/>
                <a:gridCol w="3017520"/>
                <a:gridCol w="2590495"/>
              </a:tblGrid>
              <a:tr h="896112"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Fase Operativa</a:t>
                      </a:r>
                    </a:p>
                  </a:txBody>
                  <a:tcPr>
                    <a:solidFill>
                      <a:srgbClr val="0745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Proceso Tradicional (Manual)</a:t>
                      </a:r>
                    </a:p>
                  </a:txBody>
                  <a:tcPr>
                    <a:solidFill>
                      <a:srgbClr val="0745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Con Asistente Inteligente (IA)</a:t>
                      </a:r>
                    </a:p>
                  </a:txBody>
                  <a:tcPr>
                    <a:solidFill>
                      <a:srgbClr val="0745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Ganancia Neta para el Negocio</a:t>
                      </a:r>
                    </a:p>
                  </a:txBody>
                  <a:tcPr>
                    <a:solidFill>
                      <a:srgbClr val="07459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2240"/>
                          </a:solidFill>
                        </a:defRPr>
                      </a:pPr>
                      <a:r>
                        <a:t>1. Auditoría del Expediente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AA1E1E"/>
                          </a:solidFill>
                        </a:defRPr>
                      </a:pPr>
                      <a:r>
                        <a:t>20 min por cliente.</a:t>
                      </a:r>
                    </a:p>
                    <a:p>
                      <a:r>
                        <a:t>Revisión manual de cada PDF; expedientes trabados semanas por falta de soporte de CSS.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732D"/>
                          </a:solidFill>
                        </a:defRPr>
                      </a:pPr>
                      <a:r>
                        <a:t>5 a 10 segundos.</a:t>
                      </a:r>
                    </a:p>
                    <a:p>
                      <a:r>
                        <a:t>Semáforo automático; detección preventiva de jubilados sin soporte.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240"/>
                          </a:solidFill>
                        </a:defRPr>
                      </a:pPr>
                      <a:r>
                        <a:t>Ahorro &gt;95% en revisión.</a:t>
                      </a:r>
                    </a:p>
                    <a:p>
                      <a:r>
                        <a:t>Cero expedientes estancados.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2240"/>
                          </a:solidFill>
                        </a:defRPr>
                      </a:pPr>
                      <a:r>
                        <a:t>2. Carga de Datos en Ultimus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AA1E1E"/>
                          </a:solidFill>
                        </a:defRPr>
                      </a:pPr>
                      <a:r>
                        <a:t>10 min tipeando a mano.</a:t>
                      </a:r>
                    </a:p>
                    <a:p>
                      <a:r>
                        <a:t>Búsqueda con lupa de Planilla y Posición; errores tipográficos hacia Core IBS.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732D"/>
                          </a:solidFill>
                        </a:defRPr>
                      </a:pPr>
                      <a:r>
                        <a:t>30 a 50 segundos.</a:t>
                      </a:r>
                    </a:p>
                    <a:p>
                      <a:r>
                        <a:t>Smart Clipboard con copiado en 1 clic y datos normalizados.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240"/>
                          </a:solidFill>
                        </a:defRPr>
                      </a:pPr>
                      <a:r>
                        <a:t>Reducción del 90% en digitación.</a:t>
                      </a:r>
                    </a:p>
                    <a:p>
                      <a:r>
                        <a:t>Cero rechazos en Core IBS.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2240"/>
                          </a:solidFill>
                        </a:defRPr>
                      </a:pPr>
                      <a:r>
                        <a:t>3. Confección de Compra de Saldo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AA1E1E"/>
                          </a:solidFill>
                        </a:defRPr>
                      </a:pPr>
                      <a:r>
                        <a:t>20 a 35 min redactando.</a:t>
                      </a:r>
                    </a:p>
                    <a:p>
                      <a:r>
                        <a:t>Redacción manual de cartas a otros bancos, pagarés y órdenes de descuento.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0F732D"/>
                          </a:solidFill>
                        </a:defRPr>
                      </a:pPr>
                      <a:r>
                        <a:t>15 segundos.</a:t>
                      </a:r>
                    </a:p>
                    <a:p>
                      <a:r>
                        <a:t>Generación instantánea del paquete (.docx y .pdf) listo para firma.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240"/>
                          </a:solidFill>
                        </a:defRPr>
                      </a:pPr>
                      <a:r>
                        <a:t>Ahorro de 30 min por cliente.</a:t>
                      </a:r>
                    </a:p>
                    <a:p>
                      <a:r>
                        <a:t>Exactitud contable y legal.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16A34A"/>
                          </a:solidFill>
                        </a:defRPr>
                      </a:pPr>
                      <a:r>
                        <a:t>RESUMEN TOTAL POR EXPEDIENTE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16A34A"/>
                          </a:solidFill>
                        </a:defRPr>
                      </a:pPr>
                      <a:r>
                        <a:t>~60 minutos por crédito.</a:t>
                      </a:r>
                    </a:p>
                    <a:p>
                      <a:r>
                        <a:t>Riesgo de error humano y demora en firma.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16A34A"/>
                          </a:solidFill>
                        </a:defRPr>
                      </a:pPr>
                      <a:r>
                        <a:t>Menos de 2 minutos.</a:t>
                      </a:r>
                    </a:p>
                    <a:p>
                      <a:r>
                        <a:t>Analista enfocado en control y servicio al cliente.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16A34A"/>
                          </a:solidFill>
                        </a:defRPr>
                      </a:pPr>
                      <a:r>
                        <a:t>Aceleración de 30x.</a:t>
                      </a:r>
                    </a:p>
                    <a:p>
                      <a:r>
                        <a:t>Mayor colocación de cartera.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0A4E4"/>
                </a:solidFill>
              </a:defRPr>
            </a:pPr>
            <a:r>
              <a:t>HOJA DE RUTA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Conclusión y Ruta de Implementación para el Negocio</a:t>
            </a:r>
          </a:p>
        </p:txBody>
      </p:sp>
      <p:pic>
        <p:nvPicPr>
          <p:cNvPr id="6" name="Picture 5" descr="cd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7160"/>
            <a:ext cx="1920240" cy="937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0F8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109441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5A6982"/>
                </a:solidFill>
              </a:defRPr>
            </a:pPr>
            <a:r>
              <a:t>Caja de Ahorros de Panamá  |  Iniciativa de Innovación Tecnológica (StraTech &amp; CDA)  |  Uso Exclusivo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2240"/>
                </a:solidFill>
              </a:defRPr>
            </a:pPr>
            <a:r>
              <a:t>Plan de acción ágil para validar y desplegar el valor de ambos agentes en Caja de Ahorros: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53035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5303520" cy="411480"/>
          </a:xfrm>
          <a:prstGeom prst="rect">
            <a:avLst/>
          </a:prstGeom>
          <a:solidFill>
            <a:srgbClr val="00A4E4"/>
          </a:solidFill>
          <a:ln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Hito 1: Demostración Interactiva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2240"/>
                </a:solidFill>
              </a:defRPr>
            </a:pPr>
            <a:r>
              <a:t>• Presentar el prototipo funcional del Asesor de Autos (Chainlit/Streamlit) a Ventas y Mercadeo.</a:t>
            </a:r>
          </a:p>
          <a:p>
            <a:pPr>
              <a:spcBef>
                <a:spcPts val="400"/>
              </a:spcBef>
              <a:defRPr sz="950">
                <a:solidFill>
                  <a:srgbClr val="0F2240"/>
                </a:solidFill>
              </a:defRPr>
            </a:pPr>
            <a:r>
              <a:t>• Validar parámetros de tasas de feria y marcas destacadas.</a:t>
            </a:r>
          </a:p>
          <a:p>
            <a:pPr>
              <a:spcBef>
                <a:spcPts val="400"/>
              </a:spcBef>
              <a:defRPr sz="950">
                <a:solidFill>
                  <a:srgbClr val="0F2240"/>
                </a:solidFill>
              </a:defRPr>
            </a:pPr>
            <a:r>
              <a:t>• Duración estimada: Sesión ejecutiva de 45 minutos.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3035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5303520" cy="411480"/>
          </a:xfrm>
          <a:prstGeom prst="rect">
            <a:avLst/>
          </a:prstGeom>
          <a:solidFill>
            <a:srgbClr val="074594"/>
          </a:solidFill>
          <a:ln>
            <a:solidFill>
              <a:srgbClr val="074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Hito 2: Piloto de Formalización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2240"/>
                </a:solidFill>
              </a:defRPr>
            </a:pPr>
            <a:r>
              <a:t>• Probar el Smart Clipboard y Semáforo con 3 analistas de formalización durante 2 semanas.</a:t>
            </a:r>
          </a:p>
          <a:p>
            <a:pPr>
              <a:spcBef>
                <a:spcPts val="400"/>
              </a:spcBef>
              <a:defRPr sz="950">
                <a:solidFill>
                  <a:srgbClr val="0F2240"/>
                </a:solidFill>
              </a:defRPr>
            </a:pPr>
            <a:r>
              <a:t>• Medir reducción real de tiempos de transcripción.</a:t>
            </a:r>
          </a:p>
          <a:p>
            <a:pPr>
              <a:spcBef>
                <a:spcPts val="400"/>
              </a:spcBef>
              <a:defRPr sz="950">
                <a:solidFill>
                  <a:srgbClr val="0F2240"/>
                </a:solidFill>
              </a:defRPr>
            </a:pPr>
            <a:r>
              <a:t>• Ajustar plantillas de cartas de compra de saldo oficiales.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53035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69080"/>
            <a:ext cx="5303520" cy="4114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Hito 3: Despliegue en Stand de Feria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2240"/>
                </a:solidFill>
              </a:defRPr>
            </a:pPr>
            <a:r>
              <a:t>• Instalar el Asesor Virtual en quioscos/tablets en la siguiente feria automotriz.</a:t>
            </a:r>
          </a:p>
          <a:p>
            <a:pPr>
              <a:spcBef>
                <a:spcPts val="400"/>
              </a:spcBef>
              <a:defRPr sz="950">
                <a:solidFill>
                  <a:srgbClr val="0F2240"/>
                </a:solidFill>
              </a:defRPr>
            </a:pPr>
            <a:r>
              <a:t>• Capturar leads en vivo y derivar a ejecutivos del stand.</a:t>
            </a:r>
          </a:p>
          <a:p>
            <a:pPr>
              <a:spcBef>
                <a:spcPts val="400"/>
              </a:spcBef>
              <a:defRPr sz="950">
                <a:solidFill>
                  <a:srgbClr val="0F2240"/>
                </a:solidFill>
              </a:defRPr>
            </a:pPr>
            <a:r>
              <a:t>• Medir clientes atendidos vs. ferias anteriores.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69080"/>
            <a:ext cx="53035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069080"/>
            <a:ext cx="5303520" cy="4114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Hito 4: Medición de ROI y Escalamiento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2240"/>
                </a:solidFill>
              </a:defRPr>
            </a:pPr>
            <a:r>
              <a:t>• Presentar informe de resultados a la Vicepresidencia con métricas de tiempos y conversión.</a:t>
            </a:r>
          </a:p>
          <a:p>
            <a:pPr>
              <a:spcBef>
                <a:spcPts val="400"/>
              </a:spcBef>
              <a:defRPr sz="950">
                <a:solidFill>
                  <a:srgbClr val="0F2240"/>
                </a:solidFill>
              </a:defRPr>
            </a:pPr>
            <a:r>
              <a:t>• Definir roadmap para extender a préstamos hipotecarios.</a:t>
            </a:r>
          </a:p>
          <a:p>
            <a:pPr>
              <a:spcBef>
                <a:spcPts val="400"/>
              </a:spcBef>
              <a:defRPr sz="950">
                <a:solidFill>
                  <a:srgbClr val="0F2240"/>
                </a:solidFill>
              </a:defRPr>
            </a:pPr>
            <a:r>
              <a:t>• Consolidar la Célula de Innovación como motor ágil del banco.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074594"/>
          </a:solidFill>
          <a:ln w="25400">
            <a:solidFill>
              <a:srgbClr val="00A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d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3566160" cy="1740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9260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Transformando la Experiencia del Cliente y la Eficiencia Operativa con Inteligencia Artificial</a:t>
            </a:r>
          </a:p>
          <a:p>
            <a:pPr algn="ctr">
              <a:spcBef>
                <a:spcPts val="1200"/>
              </a:spcBef>
              <a:defRPr sz="1400">
                <a:solidFill>
                  <a:srgbClr val="00A4E4"/>
                </a:solidFill>
              </a:defRPr>
            </a:pPr>
            <a:r>
              <a:t>Caja de Ahorros de Panamá  •  Célula de Innovación (StraTech / CDA)</a:t>
            </a:r>
          </a:p>
          <a:p>
            <a:pPr algn="ctr">
              <a:spcBef>
                <a:spcPts val="800"/>
              </a:spcBef>
              <a:defRPr sz="1200">
                <a:solidFill>
                  <a:srgbClr val="BEDCFF"/>
                </a:solidFill>
              </a:defRPr>
            </a:pPr>
            <a:r>
              <a:t>Líder Técnico: Rodolfo Blasser  |  Contacto y Demostraciones Técnicas Disponibles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
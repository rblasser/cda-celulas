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1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004E97-AA39-4311-B2DB-AC3309F9570B}" v="3" dt="2026-10-29T14:34:41.3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0" d="100"/>
          <a:sy n="70" d="100"/>
        </p:scale>
        <p:origin x="-12" y="317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olfo Blasser" userId="5abbaeff-d884-43de-b82a-368490b24c50" providerId="ADAL" clId="{357A7A61-C604-4E40-8148-DBF160618628}"/>
    <pc:docChg chg="undo custSel modSld sldOrd">
      <pc:chgData name="Rodolfo Blasser" userId="5abbaeff-d884-43de-b82a-368490b24c50" providerId="ADAL" clId="{357A7A61-C604-4E40-8148-DBF160618628}" dt="2026-10-29T17:09:01.891" v="743" actId="20577"/>
      <pc:docMkLst>
        <pc:docMk/>
      </pc:docMkLst>
      <pc:sldChg chg="addSp modSp mod">
        <pc:chgData name="Rodolfo Blasser" userId="5abbaeff-d884-43de-b82a-368490b24c50" providerId="ADAL" clId="{357A7A61-C604-4E40-8148-DBF160618628}" dt="2026-10-29T15:41:43.810" v="303" actId="1076"/>
        <pc:sldMkLst>
          <pc:docMk/>
          <pc:sldMk cId="0" sldId="256"/>
        </pc:sldMkLst>
        <pc:spChg chg="mod">
          <ac:chgData name="Rodolfo Blasser" userId="5abbaeff-d884-43de-b82a-368490b24c50" providerId="ADAL" clId="{357A7A61-C604-4E40-8148-DBF160618628}" dt="2026-10-29T04:08:28.888" v="33" actId="20577"/>
          <ac:spMkLst>
            <pc:docMk/>
            <pc:sldMk cId="0" sldId="256"/>
            <ac:spMk id="8" creationId="{00000000-0000-0000-0000-000000000000}"/>
          </ac:spMkLst>
        </pc:spChg>
        <pc:picChg chg="add mod">
          <ac:chgData name="Rodolfo Blasser" userId="5abbaeff-d884-43de-b82a-368490b24c50" providerId="ADAL" clId="{357A7A61-C604-4E40-8148-DBF160618628}" dt="2026-10-29T15:41:43.810" v="303" actId="1076"/>
          <ac:picMkLst>
            <pc:docMk/>
            <pc:sldMk cId="0" sldId="256"/>
            <ac:picMk id="10" creationId="{2D8AC358-FB26-1307-9608-55A4376E1AC6}"/>
          </ac:picMkLst>
        </pc:picChg>
      </pc:sldChg>
      <pc:sldChg chg="addSp modSp mod">
        <pc:chgData name="Rodolfo Blasser" userId="5abbaeff-d884-43de-b82a-368490b24c50" providerId="ADAL" clId="{357A7A61-C604-4E40-8148-DBF160618628}" dt="2026-10-29T17:09:01.891" v="743" actId="20577"/>
        <pc:sldMkLst>
          <pc:docMk/>
          <pc:sldMk cId="0" sldId="257"/>
        </pc:sldMkLst>
        <pc:spChg chg="mod">
          <ac:chgData name="Rodolfo Blasser" userId="5abbaeff-d884-43de-b82a-368490b24c50" providerId="ADAL" clId="{357A7A61-C604-4E40-8148-DBF160618628}" dt="2026-10-29T14:30:26.530" v="38" actId="255"/>
          <ac:spMkLst>
            <pc:docMk/>
            <pc:sldMk cId="0" sldId="257"/>
            <ac:spMk id="9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0:26.530" v="38" actId="255"/>
          <ac:spMkLst>
            <pc:docMk/>
            <pc:sldMk cId="0" sldId="257"/>
            <ac:spMk id="10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0:26.530" v="38" actId="255"/>
          <ac:spMkLst>
            <pc:docMk/>
            <pc:sldMk cId="0" sldId="257"/>
            <ac:spMk id="11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7:09:01.891" v="743" actId="20577"/>
          <ac:spMkLst>
            <pc:docMk/>
            <pc:sldMk cId="0" sldId="257"/>
            <ac:spMk id="12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6:59:07.231" v="474" actId="20577"/>
          <ac:spMkLst>
            <pc:docMk/>
            <pc:sldMk cId="0" sldId="257"/>
            <ac:spMk id="13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0:26.530" v="38" actId="255"/>
          <ac:spMkLst>
            <pc:docMk/>
            <pc:sldMk cId="0" sldId="257"/>
            <ac:spMk id="14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0:26.530" v="38" actId="255"/>
          <ac:spMkLst>
            <pc:docMk/>
            <pc:sldMk cId="0" sldId="257"/>
            <ac:spMk id="15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7:08:24.526" v="695" actId="20577"/>
          <ac:spMkLst>
            <pc:docMk/>
            <pc:sldMk cId="0" sldId="257"/>
            <ac:spMk id="16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6:59:20.475" v="488" actId="20577"/>
          <ac:spMkLst>
            <pc:docMk/>
            <pc:sldMk cId="0" sldId="257"/>
            <ac:spMk id="17" creationId="{00000000-0000-0000-0000-000000000000}"/>
          </ac:spMkLst>
        </pc:spChg>
        <pc:picChg chg="add mod modCrop">
          <ac:chgData name="Rodolfo Blasser" userId="5abbaeff-d884-43de-b82a-368490b24c50" providerId="ADAL" clId="{357A7A61-C604-4E40-8148-DBF160618628}" dt="2026-10-29T15:42:01.167" v="307" actId="1076"/>
          <ac:picMkLst>
            <pc:docMk/>
            <pc:sldMk cId="0" sldId="257"/>
            <ac:picMk id="19" creationId="{3A877D7E-9D96-B794-3F3A-727CA98D5C6E}"/>
          </ac:picMkLst>
        </pc:picChg>
      </pc:sldChg>
      <pc:sldChg chg="addSp modSp mod">
        <pc:chgData name="Rodolfo Blasser" userId="5abbaeff-d884-43de-b82a-368490b24c50" providerId="ADAL" clId="{357A7A61-C604-4E40-8148-DBF160618628}" dt="2026-10-29T17:04:37.556" v="559" actId="20577"/>
        <pc:sldMkLst>
          <pc:docMk/>
          <pc:sldMk cId="0" sldId="258"/>
        </pc:sldMkLst>
        <pc:spChg chg="mod">
          <ac:chgData name="Rodolfo Blasser" userId="5abbaeff-d884-43de-b82a-368490b24c50" providerId="ADAL" clId="{357A7A61-C604-4E40-8148-DBF160618628}" dt="2026-10-29T14:30:53.550" v="40" actId="255"/>
          <ac:spMkLst>
            <pc:docMk/>
            <pc:sldMk cId="0" sldId="258"/>
            <ac:spMk id="9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0:53.550" v="40" actId="255"/>
          <ac:spMkLst>
            <pc:docMk/>
            <pc:sldMk cId="0" sldId="258"/>
            <ac:spMk id="10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0:53.550" v="40" actId="255"/>
          <ac:spMkLst>
            <pc:docMk/>
            <pc:sldMk cId="0" sldId="258"/>
            <ac:spMk id="11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0:53.550" v="40" actId="255"/>
          <ac:spMkLst>
            <pc:docMk/>
            <pc:sldMk cId="0" sldId="258"/>
            <ac:spMk id="12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0:53.550" v="40" actId="255"/>
          <ac:spMkLst>
            <pc:docMk/>
            <pc:sldMk cId="0" sldId="258"/>
            <ac:spMk id="13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7:04:37.556" v="559" actId="20577"/>
          <ac:spMkLst>
            <pc:docMk/>
            <pc:sldMk cId="0" sldId="258"/>
            <ac:spMk id="14" creationId="{00000000-0000-0000-0000-000000000000}"/>
          </ac:spMkLst>
        </pc:spChg>
        <pc:picChg chg="add">
          <ac:chgData name="Rodolfo Blasser" userId="5abbaeff-d884-43de-b82a-368490b24c50" providerId="ADAL" clId="{357A7A61-C604-4E40-8148-DBF160618628}" dt="2026-10-29T15:42:05.072" v="308" actId="22"/>
          <ac:picMkLst>
            <pc:docMk/>
            <pc:sldMk cId="0" sldId="258"/>
            <ac:picMk id="16" creationId="{609DF990-530A-4B71-D54C-E7AEEC2927B1}"/>
          </ac:picMkLst>
        </pc:picChg>
      </pc:sldChg>
      <pc:sldChg chg="addSp modSp mod">
        <pc:chgData name="Rodolfo Blasser" userId="5abbaeff-d884-43de-b82a-368490b24c50" providerId="ADAL" clId="{357A7A61-C604-4E40-8148-DBF160618628}" dt="2026-10-29T17:05:42.834" v="623" actId="20577"/>
        <pc:sldMkLst>
          <pc:docMk/>
          <pc:sldMk cId="0" sldId="259"/>
        </pc:sldMkLst>
        <pc:spChg chg="mod">
          <ac:chgData name="Rodolfo Blasser" userId="5abbaeff-d884-43de-b82a-368490b24c50" providerId="ADAL" clId="{357A7A61-C604-4E40-8148-DBF160618628}" dt="2026-10-29T14:31:03.196" v="41" actId="255"/>
          <ac:spMkLst>
            <pc:docMk/>
            <pc:sldMk cId="0" sldId="259"/>
            <ac:spMk id="10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1:03.196" v="41" actId="255"/>
          <ac:spMkLst>
            <pc:docMk/>
            <pc:sldMk cId="0" sldId="259"/>
            <ac:spMk id="11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1:03.196" v="41" actId="255"/>
          <ac:spMkLst>
            <pc:docMk/>
            <pc:sldMk cId="0" sldId="259"/>
            <ac:spMk id="12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1:03.196" v="41" actId="255"/>
          <ac:spMkLst>
            <pc:docMk/>
            <pc:sldMk cId="0" sldId="259"/>
            <ac:spMk id="15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1:03.196" v="41" actId="255"/>
          <ac:spMkLst>
            <pc:docMk/>
            <pc:sldMk cId="0" sldId="259"/>
            <ac:spMk id="16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1:03.196" v="41" actId="255"/>
          <ac:spMkLst>
            <pc:docMk/>
            <pc:sldMk cId="0" sldId="259"/>
            <ac:spMk id="17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1:03.196" v="41" actId="255"/>
          <ac:spMkLst>
            <pc:docMk/>
            <pc:sldMk cId="0" sldId="259"/>
            <ac:spMk id="18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1:03.196" v="41" actId="255"/>
          <ac:spMkLst>
            <pc:docMk/>
            <pc:sldMk cId="0" sldId="259"/>
            <ac:spMk id="19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4:47.508" v="301" actId="20577"/>
          <ac:spMkLst>
            <pc:docMk/>
            <pc:sldMk cId="0" sldId="259"/>
            <ac:spMk id="23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1:03.196" v="41" actId="255"/>
          <ac:spMkLst>
            <pc:docMk/>
            <pc:sldMk cId="0" sldId="259"/>
            <ac:spMk id="26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7:04:59.944" v="560" actId="20577"/>
          <ac:spMkLst>
            <pc:docMk/>
            <pc:sldMk cId="0" sldId="259"/>
            <ac:spMk id="28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7:05:42.834" v="623" actId="20577"/>
          <ac:spMkLst>
            <pc:docMk/>
            <pc:sldMk cId="0" sldId="259"/>
            <ac:spMk id="29" creationId="{00000000-0000-0000-0000-000000000000}"/>
          </ac:spMkLst>
        </pc:spChg>
        <pc:picChg chg="add">
          <ac:chgData name="Rodolfo Blasser" userId="5abbaeff-d884-43de-b82a-368490b24c50" providerId="ADAL" clId="{357A7A61-C604-4E40-8148-DBF160618628}" dt="2026-10-29T15:42:06.432" v="309" actId="22"/>
          <ac:picMkLst>
            <pc:docMk/>
            <pc:sldMk cId="0" sldId="259"/>
            <ac:picMk id="31" creationId="{EE3B9BC0-8F4E-2581-6642-81AEBB6DC69D}"/>
          </ac:picMkLst>
        </pc:picChg>
      </pc:sldChg>
      <pc:sldChg chg="addSp modSp mod">
        <pc:chgData name="Rodolfo Blasser" userId="5abbaeff-d884-43de-b82a-368490b24c50" providerId="ADAL" clId="{357A7A61-C604-4E40-8148-DBF160618628}" dt="2026-10-29T15:42:07.915" v="310" actId="22"/>
        <pc:sldMkLst>
          <pc:docMk/>
          <pc:sldMk cId="0" sldId="260"/>
        </pc:sldMkLst>
        <pc:spChg chg="mod">
          <ac:chgData name="Rodolfo Blasser" userId="5abbaeff-d884-43de-b82a-368490b24c50" providerId="ADAL" clId="{357A7A61-C604-4E40-8148-DBF160618628}" dt="2026-10-29T14:32:58.855" v="279" actId="255"/>
          <ac:spMkLst>
            <pc:docMk/>
            <pc:sldMk cId="0" sldId="260"/>
            <ac:spMk id="9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2:58.855" v="279" actId="255"/>
          <ac:spMkLst>
            <pc:docMk/>
            <pc:sldMk cId="0" sldId="260"/>
            <ac:spMk id="11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2:58.855" v="279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2:58.855" v="279" actId="255"/>
          <ac:spMkLst>
            <pc:docMk/>
            <pc:sldMk cId="0" sldId="260"/>
            <ac:spMk id="14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2:58.855" v="279" actId="255"/>
          <ac:spMkLst>
            <pc:docMk/>
            <pc:sldMk cId="0" sldId="260"/>
            <ac:spMk id="15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2:58.855" v="279" actId="255"/>
          <ac:spMkLst>
            <pc:docMk/>
            <pc:sldMk cId="0" sldId="260"/>
            <ac:spMk id="17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2:58.855" v="279" actId="255"/>
          <ac:spMkLst>
            <pc:docMk/>
            <pc:sldMk cId="0" sldId="260"/>
            <ac:spMk id="18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2:58.855" v="279" actId="255"/>
          <ac:spMkLst>
            <pc:docMk/>
            <pc:sldMk cId="0" sldId="260"/>
            <ac:spMk id="19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2:58.855" v="279" actId="255"/>
          <ac:spMkLst>
            <pc:docMk/>
            <pc:sldMk cId="0" sldId="260"/>
            <ac:spMk id="20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2:58.855" v="279" actId="255"/>
          <ac:spMkLst>
            <pc:docMk/>
            <pc:sldMk cId="0" sldId="260"/>
            <ac:spMk id="21" creationId="{00000000-0000-0000-0000-000000000000}"/>
          </ac:spMkLst>
        </pc:spChg>
        <pc:picChg chg="add">
          <ac:chgData name="Rodolfo Blasser" userId="5abbaeff-d884-43de-b82a-368490b24c50" providerId="ADAL" clId="{357A7A61-C604-4E40-8148-DBF160618628}" dt="2026-10-29T15:42:07.915" v="310" actId="22"/>
          <ac:picMkLst>
            <pc:docMk/>
            <pc:sldMk cId="0" sldId="260"/>
            <ac:picMk id="23" creationId="{BAD53468-1F55-2DD3-BD4F-FAC382293681}"/>
          </ac:picMkLst>
        </pc:picChg>
      </pc:sldChg>
      <pc:sldChg chg="addSp modSp mod ord">
        <pc:chgData name="Rodolfo Blasser" userId="5abbaeff-d884-43de-b82a-368490b24c50" providerId="ADAL" clId="{357A7A61-C604-4E40-8148-DBF160618628}" dt="2026-10-29T16:25:25.327" v="320"/>
        <pc:sldMkLst>
          <pc:docMk/>
          <pc:sldMk cId="0" sldId="261"/>
        </pc:sldMkLst>
        <pc:spChg chg="mod">
          <ac:chgData name="Rodolfo Blasser" userId="5abbaeff-d884-43de-b82a-368490b24c50" providerId="ADAL" clId="{357A7A61-C604-4E40-8148-DBF160618628}" dt="2026-10-29T14:33:10.139" v="280" actId="255"/>
          <ac:spMkLst>
            <pc:docMk/>
            <pc:sldMk cId="0" sldId="261"/>
            <ac:spMk id="10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10.139" v="280" actId="255"/>
          <ac:spMkLst>
            <pc:docMk/>
            <pc:sldMk cId="0" sldId="261"/>
            <ac:spMk id="11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10.139" v="280" actId="255"/>
          <ac:spMkLst>
            <pc:docMk/>
            <pc:sldMk cId="0" sldId="261"/>
            <ac:spMk id="12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10.139" v="280" actId="255"/>
          <ac:spMkLst>
            <pc:docMk/>
            <pc:sldMk cId="0" sldId="261"/>
            <ac:spMk id="13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10.139" v="280" actId="255"/>
          <ac:spMkLst>
            <pc:docMk/>
            <pc:sldMk cId="0" sldId="261"/>
            <ac:spMk id="15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10.139" v="280" actId="255"/>
          <ac:spMkLst>
            <pc:docMk/>
            <pc:sldMk cId="0" sldId="261"/>
            <ac:spMk id="17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10.139" v="280" actId="255"/>
          <ac:spMkLst>
            <pc:docMk/>
            <pc:sldMk cId="0" sldId="261"/>
            <ac:spMk id="18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10.139" v="280" actId="255"/>
          <ac:spMkLst>
            <pc:docMk/>
            <pc:sldMk cId="0" sldId="261"/>
            <ac:spMk id="19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10.139" v="280" actId="255"/>
          <ac:spMkLst>
            <pc:docMk/>
            <pc:sldMk cId="0" sldId="261"/>
            <ac:spMk id="20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10.139" v="280" actId="255"/>
          <ac:spMkLst>
            <pc:docMk/>
            <pc:sldMk cId="0" sldId="261"/>
            <ac:spMk id="21" creationId="{00000000-0000-0000-0000-000000000000}"/>
          </ac:spMkLst>
        </pc:spChg>
        <pc:picChg chg="add">
          <ac:chgData name="Rodolfo Blasser" userId="5abbaeff-d884-43de-b82a-368490b24c50" providerId="ADAL" clId="{357A7A61-C604-4E40-8148-DBF160618628}" dt="2026-10-29T15:42:10.094" v="311" actId="22"/>
          <ac:picMkLst>
            <pc:docMk/>
            <pc:sldMk cId="0" sldId="261"/>
            <ac:picMk id="24" creationId="{A274CB55-C45E-BAF9-2854-09848454923D}"/>
          </ac:picMkLst>
        </pc:picChg>
      </pc:sldChg>
      <pc:sldChg chg="addSp mod">
        <pc:chgData name="Rodolfo Blasser" userId="5abbaeff-d884-43de-b82a-368490b24c50" providerId="ADAL" clId="{357A7A61-C604-4E40-8148-DBF160618628}" dt="2026-10-29T15:42:11.688" v="312" actId="22"/>
        <pc:sldMkLst>
          <pc:docMk/>
          <pc:sldMk cId="0" sldId="262"/>
        </pc:sldMkLst>
        <pc:picChg chg="add">
          <ac:chgData name="Rodolfo Blasser" userId="5abbaeff-d884-43de-b82a-368490b24c50" providerId="ADAL" clId="{357A7A61-C604-4E40-8148-DBF160618628}" dt="2026-10-29T15:42:11.688" v="312" actId="22"/>
          <ac:picMkLst>
            <pc:docMk/>
            <pc:sldMk cId="0" sldId="262"/>
            <ac:picMk id="25" creationId="{43AD4DFB-FA42-1F77-690A-9328D344624F}"/>
          </ac:picMkLst>
        </pc:picChg>
      </pc:sldChg>
      <pc:sldChg chg="addSp modSp mod">
        <pc:chgData name="Rodolfo Blasser" userId="5abbaeff-d884-43de-b82a-368490b24c50" providerId="ADAL" clId="{357A7A61-C604-4E40-8148-DBF160618628}" dt="2026-10-29T15:42:13.185" v="313" actId="22"/>
        <pc:sldMkLst>
          <pc:docMk/>
          <pc:sldMk cId="0" sldId="263"/>
        </pc:sldMkLst>
        <pc:spChg chg="mod">
          <ac:chgData name="Rodolfo Blasser" userId="5abbaeff-d884-43de-b82a-368490b24c50" providerId="ADAL" clId="{357A7A61-C604-4E40-8148-DBF160618628}" dt="2026-10-29T14:33:26.849" v="282" actId="255"/>
          <ac:spMkLst>
            <pc:docMk/>
            <pc:sldMk cId="0" sldId="263"/>
            <ac:spMk id="9" creationId="{00000000-0000-0000-0000-000000000000}"/>
          </ac:spMkLst>
        </pc:spChg>
        <pc:graphicFrameChg chg="modGraphic">
          <ac:chgData name="Rodolfo Blasser" userId="5abbaeff-d884-43de-b82a-368490b24c50" providerId="ADAL" clId="{357A7A61-C604-4E40-8148-DBF160618628}" dt="2026-10-29T14:33:21.841" v="281" actId="255"/>
          <ac:graphicFrameMkLst>
            <pc:docMk/>
            <pc:sldMk cId="0" sldId="263"/>
            <ac:graphicFrameMk id="10" creationId="{00000000-0000-0000-0000-000000000000}"/>
          </ac:graphicFrameMkLst>
        </pc:graphicFrameChg>
        <pc:picChg chg="add">
          <ac:chgData name="Rodolfo Blasser" userId="5abbaeff-d884-43de-b82a-368490b24c50" providerId="ADAL" clId="{357A7A61-C604-4E40-8148-DBF160618628}" dt="2026-10-29T15:42:13.185" v="313" actId="22"/>
          <ac:picMkLst>
            <pc:docMk/>
            <pc:sldMk cId="0" sldId="263"/>
            <ac:picMk id="12" creationId="{D3CF8508-BC67-80DE-81B0-3350C227CC7E}"/>
          </ac:picMkLst>
        </pc:picChg>
      </pc:sldChg>
      <pc:sldChg chg="addSp modSp mod">
        <pc:chgData name="Rodolfo Blasser" userId="5abbaeff-d884-43de-b82a-368490b24c50" providerId="ADAL" clId="{357A7A61-C604-4E40-8148-DBF160618628}" dt="2026-10-29T17:07:33.418" v="642" actId="20577"/>
        <pc:sldMkLst>
          <pc:docMk/>
          <pc:sldMk cId="0" sldId="264"/>
        </pc:sldMkLst>
        <pc:spChg chg="mod">
          <ac:chgData name="Rodolfo Blasser" userId="5abbaeff-d884-43de-b82a-368490b24c50" providerId="ADAL" clId="{357A7A61-C604-4E40-8148-DBF160618628}" dt="2026-10-29T14:33:37.415" v="283" actId="255"/>
          <ac:spMkLst>
            <pc:docMk/>
            <pc:sldMk cId="0" sldId="264"/>
            <ac:spMk id="9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37.415" v="283" actId="255"/>
          <ac:spMkLst>
            <pc:docMk/>
            <pc:sldMk cId="0" sldId="264"/>
            <ac:spMk id="10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37.415" v="283" actId="255"/>
          <ac:spMkLst>
            <pc:docMk/>
            <pc:sldMk cId="0" sldId="264"/>
            <ac:spMk id="11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7:07:00.804" v="626" actId="20577"/>
          <ac:spMkLst>
            <pc:docMk/>
            <pc:sldMk cId="0" sldId="264"/>
            <ac:spMk id="12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37.415" v="283" actId="255"/>
          <ac:spMkLst>
            <pc:docMk/>
            <pc:sldMk cId="0" sldId="264"/>
            <ac:spMk id="13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37.415" v="283" actId="255"/>
          <ac:spMkLst>
            <pc:docMk/>
            <pc:sldMk cId="0" sldId="264"/>
            <ac:spMk id="14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6:26:14.330" v="359" actId="20577"/>
          <ac:spMkLst>
            <pc:docMk/>
            <pc:sldMk cId="0" sldId="264"/>
            <ac:spMk id="15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37.415" v="283" actId="255"/>
          <ac:spMkLst>
            <pc:docMk/>
            <pc:sldMk cId="0" sldId="264"/>
            <ac:spMk id="16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7:07:33.418" v="642" actId="20577"/>
          <ac:spMkLst>
            <pc:docMk/>
            <pc:sldMk cId="0" sldId="264"/>
            <ac:spMk id="18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37.415" v="283" actId="255"/>
          <ac:spMkLst>
            <pc:docMk/>
            <pc:sldMk cId="0" sldId="264"/>
            <ac:spMk id="19" creationId="{00000000-0000-0000-0000-000000000000}"/>
          </ac:spMkLst>
        </pc:spChg>
        <pc:spChg chg="mod">
          <ac:chgData name="Rodolfo Blasser" userId="5abbaeff-d884-43de-b82a-368490b24c50" providerId="ADAL" clId="{357A7A61-C604-4E40-8148-DBF160618628}" dt="2026-10-29T14:33:37.415" v="283" actId="255"/>
          <ac:spMkLst>
            <pc:docMk/>
            <pc:sldMk cId="0" sldId="264"/>
            <ac:spMk id="20" creationId="{00000000-0000-0000-0000-000000000000}"/>
          </ac:spMkLst>
        </pc:spChg>
        <pc:picChg chg="add">
          <ac:chgData name="Rodolfo Blasser" userId="5abbaeff-d884-43de-b82a-368490b24c50" providerId="ADAL" clId="{357A7A61-C604-4E40-8148-DBF160618628}" dt="2026-10-29T15:42:14.489" v="314" actId="22"/>
          <ac:picMkLst>
            <pc:docMk/>
            <pc:sldMk cId="0" sldId="264"/>
            <ac:picMk id="23" creationId="{83DD6D2C-076B-61CE-9832-034226EFF121}"/>
          </ac:picMkLst>
        </pc:picChg>
      </pc:sldChg>
      <pc:sldChg chg="addSp modSp mod">
        <pc:chgData name="Rodolfo Blasser" userId="5abbaeff-d884-43de-b82a-368490b24c50" providerId="ADAL" clId="{357A7A61-C604-4E40-8148-DBF160618628}" dt="2026-10-29T15:42:26.834" v="318" actId="1076"/>
        <pc:sldMkLst>
          <pc:docMk/>
          <pc:sldMk cId="0" sldId="265"/>
        </pc:sldMkLst>
        <pc:spChg chg="mod">
          <ac:chgData name="Rodolfo Blasser" userId="5abbaeff-d884-43de-b82a-368490b24c50" providerId="ADAL" clId="{357A7A61-C604-4E40-8148-DBF160618628}" dt="2026-10-29T04:08:53.106" v="37" actId="20577"/>
          <ac:spMkLst>
            <pc:docMk/>
            <pc:sldMk cId="0" sldId="265"/>
            <ac:spMk id="5" creationId="{00000000-0000-0000-0000-000000000000}"/>
          </ac:spMkLst>
        </pc:spChg>
        <pc:picChg chg="mod">
          <ac:chgData name="Rodolfo Blasser" userId="5abbaeff-d884-43de-b82a-368490b24c50" providerId="ADAL" clId="{357A7A61-C604-4E40-8148-DBF160618628}" dt="2026-10-29T15:42:25.257" v="317" actId="1076"/>
          <ac:picMkLst>
            <pc:docMk/>
            <pc:sldMk cId="0" sldId="265"/>
            <ac:picMk id="4" creationId="{00000000-0000-0000-0000-000000000000}"/>
          </ac:picMkLst>
        </pc:picChg>
        <pc:picChg chg="add mod">
          <ac:chgData name="Rodolfo Blasser" userId="5abbaeff-d884-43de-b82a-368490b24c50" providerId="ADAL" clId="{357A7A61-C604-4E40-8148-DBF160618628}" dt="2026-10-29T15:42:26.834" v="318" actId="1076"/>
          <ac:picMkLst>
            <pc:docMk/>
            <pc:sldMk cId="0" sldId="265"/>
            <ac:picMk id="7" creationId="{C1A1706E-D09A-D5A0-271A-A3BFEA277AC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0728655" cy="5577840"/>
          </a:xfrm>
          <a:prstGeom prst="roundRect">
            <a:avLst/>
          </a:prstGeom>
          <a:solidFill>
            <a:srgbClr val="074594"/>
          </a:solidFill>
          <a:ln w="25400"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097280"/>
            <a:ext cx="3474720" cy="169559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188720" y="2468880"/>
            <a:ext cx="4389120" cy="384048"/>
          </a:xfrm>
          <a:prstGeom prst="roundRect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100" b="1">
                <a:solidFill>
                  <a:srgbClr val="042D62"/>
                </a:solidFill>
              </a:defRPr>
            </a:pPr>
            <a:r>
              <a:t>PORTAFOLIO DE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9718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Células de Innovación con IA</a:t>
            </a:r>
          </a:p>
          <a:p>
            <a:pPr>
              <a:spcBef>
                <a:spcPts val="800"/>
              </a:spcBef>
              <a:defRPr sz="2000">
                <a:solidFill>
                  <a:srgbClr val="C3E6FF"/>
                </a:solidFill>
              </a:defRPr>
            </a:pPr>
            <a:r>
              <a:t>Diseño de Soluciones: Asesor de Feria de Autos y Formalización de Préstamos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4434840"/>
            <a:ext cx="9601200" cy="27432"/>
          </a:xfrm>
          <a:prstGeom prst="rect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4617720"/>
            <a:ext cx="779732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B4D7FA"/>
                </a:solidFill>
              </a:defRPr>
            </a:pPr>
            <a:r>
              <a:rPr dirty="0" err="1"/>
              <a:t>Desarrollado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: </a:t>
            </a:r>
            <a:r>
              <a:rPr dirty="0" err="1"/>
              <a:t>Célula</a:t>
            </a:r>
            <a:r>
              <a:rPr dirty="0"/>
              <a:t> de </a:t>
            </a:r>
            <a:r>
              <a:rPr dirty="0" err="1"/>
              <a:t>Innovación</a:t>
            </a:r>
            <a:r>
              <a:rPr dirty="0"/>
              <a:t> (</a:t>
            </a:r>
            <a:r>
              <a:rPr dirty="0" err="1"/>
              <a:t>StraTech</a:t>
            </a:r>
            <a:r>
              <a:rPr dirty="0"/>
              <a:t> / Caja de Ahorros)  •  </a:t>
            </a:r>
            <a:r>
              <a:rPr lang="es-ES" dirty="0"/>
              <a:t>AI + </a:t>
            </a:r>
            <a:r>
              <a:rPr lang="es-ES" dirty="0" err="1"/>
              <a:t>Financial</a:t>
            </a:r>
            <a:r>
              <a:rPr lang="es-ES" dirty="0"/>
              <a:t> Risk </a:t>
            </a:r>
            <a:r>
              <a:rPr lang="es-ES" dirty="0" err="1"/>
              <a:t>Specialist</a:t>
            </a:r>
            <a:r>
              <a:rPr dirty="0"/>
              <a:t>: Rodolfo Blasser  •  </a:t>
            </a:r>
            <a:r>
              <a:rPr dirty="0" err="1"/>
              <a:t>Octubre</a:t>
            </a:r>
            <a:r>
              <a:rPr dirty="0"/>
              <a:t> 2026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D8AC358-FB26-1307-9608-55A4376E1A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506" y="1622767"/>
            <a:ext cx="2082907" cy="76838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PORTAFOLIO DE INNOVACIÓN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Visión Estratégica: Dos Soluciones para Acelerar el Negocio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2240"/>
                </a:solidFill>
              </a:defRPr>
            </a:pPr>
            <a:r>
              <a:rPr sz="1200"/>
              <a:t>La Célula de Innovación ha diseñado dos herramientas complementarias que impactan directamente el ciclo de vida del cliente: desde la captación comercial inmediata en ferias hasta la rápida entrega del dinero en operaciones de préstamo.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530352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1" name="Rounded Rectangle 10"/>
          <p:cNvSpPr/>
          <p:nvPr/>
        </p:nvSpPr>
        <p:spPr>
          <a:xfrm>
            <a:off x="731520" y="1920240"/>
            <a:ext cx="4937760" cy="594360"/>
          </a:xfrm>
          <a:prstGeom prst="roundRect">
            <a:avLst/>
          </a:prstGeom>
          <a:solidFill>
            <a:srgbClr val="EEF6FF"/>
          </a:solidFill>
          <a:ln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74594"/>
                </a:solidFill>
              </a:defRPr>
            </a:pPr>
            <a:r>
              <a:rPr sz="1200"/>
              <a:t>PRODUCTO 01: Venta y Canales</a:t>
            </a:r>
          </a:p>
          <a:p>
            <a:pPr>
              <a:defRPr sz="1050">
                <a:solidFill>
                  <a:srgbClr val="0F2240"/>
                </a:solidFill>
              </a:defRPr>
            </a:pPr>
            <a:r>
              <a:rPr sz="1200"/>
              <a:t>Asesor Virtual para Feria de Autos (Front-Office)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06040"/>
            <a:ext cx="484632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74594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Objetivo</a:t>
            </a:r>
            <a:r>
              <a:rPr sz="1200" dirty="0"/>
              <a:t> de </a:t>
            </a:r>
            <a:r>
              <a:rPr sz="1200" dirty="0" err="1"/>
              <a:t>Negocio</a:t>
            </a:r>
            <a:r>
              <a:rPr sz="1200" dirty="0"/>
              <a:t>: </a:t>
            </a:r>
            <a:r>
              <a:rPr sz="1200" b="0" dirty="0" err="1">
                <a:solidFill>
                  <a:srgbClr val="0F2240"/>
                </a:solidFill>
              </a:rPr>
              <a:t>Capturar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prospectos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en</a:t>
            </a:r>
            <a:r>
              <a:rPr sz="1200" b="0" dirty="0">
                <a:solidFill>
                  <a:srgbClr val="0F2240"/>
                </a:solidFill>
              </a:rPr>
              <a:t> stands </a:t>
            </a:r>
            <a:r>
              <a:rPr sz="1200" b="0" dirty="0" err="1">
                <a:solidFill>
                  <a:srgbClr val="0F2240"/>
                </a:solidFill>
              </a:rPr>
              <a:t>abarrotados</a:t>
            </a:r>
            <a:r>
              <a:rPr sz="1200" b="0" dirty="0">
                <a:solidFill>
                  <a:srgbClr val="0F2240"/>
                </a:solidFill>
              </a:rPr>
              <a:t> (Panamá Motor Show), </a:t>
            </a:r>
            <a:r>
              <a:rPr sz="1200" b="0" dirty="0" err="1">
                <a:solidFill>
                  <a:srgbClr val="0F2240"/>
                </a:solidFill>
              </a:rPr>
              <a:t>reduciendo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tiempos</a:t>
            </a:r>
            <a:r>
              <a:rPr sz="1200" b="0" dirty="0">
                <a:solidFill>
                  <a:srgbClr val="0F2240"/>
                </a:solidFill>
              </a:rPr>
              <a:t> de </a:t>
            </a:r>
            <a:r>
              <a:rPr sz="1200" b="0" dirty="0" err="1">
                <a:solidFill>
                  <a:srgbClr val="0F2240"/>
                </a:solidFill>
              </a:rPr>
              <a:t>espera</a:t>
            </a:r>
            <a:r>
              <a:rPr sz="1200" b="0" dirty="0">
                <a:solidFill>
                  <a:srgbClr val="0F2240"/>
                </a:solidFill>
              </a:rPr>
              <a:t> de 20 min a 2 min.</a:t>
            </a:r>
          </a:p>
          <a:p>
            <a:pPr>
              <a:spcBef>
                <a:spcPts val="600"/>
              </a:spcBef>
              <a:defRPr sz="1050" b="1">
                <a:solidFill>
                  <a:srgbClr val="074594"/>
                </a:solidFill>
              </a:defRPr>
            </a:pPr>
            <a:r>
              <a:rPr sz="1200" dirty="0"/>
              <a:t>• Rol de la IA: </a:t>
            </a:r>
            <a:r>
              <a:rPr sz="1200" b="0" dirty="0" err="1">
                <a:solidFill>
                  <a:srgbClr val="0F2240"/>
                </a:solidFill>
              </a:rPr>
              <a:t>Interacción</a:t>
            </a:r>
            <a:r>
              <a:rPr sz="1200" b="0" dirty="0">
                <a:solidFill>
                  <a:srgbClr val="0F2240"/>
                </a:solidFill>
              </a:rPr>
              <a:t> natural y </a:t>
            </a:r>
            <a:r>
              <a:rPr sz="1200" b="0" dirty="0" err="1">
                <a:solidFill>
                  <a:srgbClr val="0F2240"/>
                </a:solidFill>
              </a:rPr>
              <a:t>amigable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que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lang="es-PA" sz="1200" b="0" dirty="0">
                <a:solidFill>
                  <a:srgbClr val="0F2240"/>
                </a:solidFill>
              </a:rPr>
              <a:t>pre</a:t>
            </a:r>
            <a:r>
              <a:rPr sz="1200" b="0" dirty="0" err="1">
                <a:solidFill>
                  <a:srgbClr val="0F2240"/>
                </a:solidFill>
              </a:rPr>
              <a:t>califica</a:t>
            </a:r>
            <a:r>
              <a:rPr sz="1200" b="0" dirty="0">
                <a:solidFill>
                  <a:srgbClr val="0F2240"/>
                </a:solidFill>
              </a:rPr>
              <a:t> al </a:t>
            </a:r>
            <a:r>
              <a:rPr sz="1200" b="0" dirty="0" err="1">
                <a:solidFill>
                  <a:srgbClr val="0F2240"/>
                </a:solidFill>
              </a:rPr>
              <a:t>cliente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según</a:t>
            </a:r>
            <a:r>
              <a:rPr sz="1200" b="0" dirty="0">
                <a:solidFill>
                  <a:srgbClr val="0F2240"/>
                </a:solidFill>
              </a:rPr>
              <a:t> la </a:t>
            </a:r>
            <a:r>
              <a:rPr sz="1200" b="0" dirty="0" err="1">
                <a:solidFill>
                  <a:srgbClr val="0F2240"/>
                </a:solidFill>
              </a:rPr>
              <a:t>política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crediticia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oficial</a:t>
            </a:r>
            <a:r>
              <a:rPr sz="1200" b="0" dirty="0">
                <a:solidFill>
                  <a:srgbClr val="0F2240"/>
                </a:solidFill>
              </a:rPr>
              <a:t> de Caja de Ahorros</a:t>
            </a:r>
            <a:r>
              <a:rPr lang="es-PA" sz="1200" b="0" dirty="0">
                <a:solidFill>
                  <a:srgbClr val="0F2240"/>
                </a:solidFill>
              </a:rPr>
              <a:t>, de acuerdo a </a:t>
            </a:r>
            <a:r>
              <a:rPr lang="es-PA" sz="1200" b="0">
                <a:solidFill>
                  <a:srgbClr val="0F2240"/>
                </a:solidFill>
              </a:rPr>
              <a:t>la conversación.</a:t>
            </a:r>
            <a:endParaRPr sz="1200" b="0" dirty="0">
              <a:solidFill>
                <a:srgbClr val="0F2240"/>
              </a:solidFill>
            </a:endParaRPr>
          </a:p>
          <a:p>
            <a:pPr>
              <a:spcBef>
                <a:spcPts val="600"/>
              </a:spcBef>
              <a:defRPr sz="1050" b="1">
                <a:solidFill>
                  <a:srgbClr val="074594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Simulación</a:t>
            </a:r>
            <a:r>
              <a:rPr sz="1200" dirty="0"/>
              <a:t> </a:t>
            </a:r>
            <a:r>
              <a:rPr sz="1200" dirty="0" err="1"/>
              <a:t>en</a:t>
            </a:r>
            <a:r>
              <a:rPr sz="1200" dirty="0"/>
              <a:t> Vivo: </a:t>
            </a:r>
            <a:r>
              <a:rPr lang="es-PA" sz="1200" b="0" dirty="0">
                <a:solidFill>
                  <a:srgbClr val="0F2240"/>
                </a:solidFill>
              </a:rPr>
              <a:t>Calcula un estimado de </a:t>
            </a:r>
            <a:r>
              <a:rPr sz="1200" b="0" dirty="0" err="1">
                <a:solidFill>
                  <a:srgbClr val="0F2240"/>
                </a:solidFill>
              </a:rPr>
              <a:t>abono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mínimo</a:t>
            </a:r>
            <a:r>
              <a:rPr sz="1200" b="0" dirty="0">
                <a:solidFill>
                  <a:srgbClr val="0F2240"/>
                </a:solidFill>
              </a:rPr>
              <a:t>, </a:t>
            </a:r>
            <a:r>
              <a:rPr sz="1200" b="0" dirty="0" err="1">
                <a:solidFill>
                  <a:srgbClr val="0F2240"/>
                </a:solidFill>
              </a:rPr>
              <a:t>plazo</a:t>
            </a:r>
            <a:r>
              <a:rPr sz="1200" b="0" dirty="0">
                <a:solidFill>
                  <a:srgbClr val="0F2240"/>
                </a:solidFill>
              </a:rPr>
              <a:t> y </a:t>
            </a:r>
            <a:r>
              <a:rPr sz="1200" b="0" dirty="0" err="1">
                <a:solidFill>
                  <a:srgbClr val="0F2240"/>
                </a:solidFill>
              </a:rPr>
              <a:t>letra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lang="es-PA"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mensual</a:t>
            </a:r>
            <a:r>
              <a:rPr sz="1200" b="0" dirty="0">
                <a:solidFill>
                  <a:srgbClr val="0F2240"/>
                </a:solidFill>
              </a:rPr>
              <a:t> con base </a:t>
            </a:r>
            <a:r>
              <a:rPr sz="1200" b="0" dirty="0" err="1">
                <a:solidFill>
                  <a:srgbClr val="0F2240"/>
                </a:solidFill>
              </a:rPr>
              <a:t>en</a:t>
            </a:r>
            <a:r>
              <a:rPr sz="1200" b="0" dirty="0">
                <a:solidFill>
                  <a:srgbClr val="0F2240"/>
                </a:solidFill>
              </a:rPr>
              <a:t> la </a:t>
            </a:r>
            <a:r>
              <a:rPr sz="1200" b="0" dirty="0" err="1">
                <a:solidFill>
                  <a:srgbClr val="0F2240"/>
                </a:solidFill>
              </a:rPr>
              <a:t>marca</a:t>
            </a:r>
            <a:r>
              <a:rPr sz="1200" b="0" dirty="0">
                <a:solidFill>
                  <a:srgbClr val="0F2240"/>
                </a:solidFill>
              </a:rPr>
              <a:t> y valor del auto</a:t>
            </a:r>
            <a:r>
              <a:rPr lang="es-PA" sz="1200" b="0" dirty="0">
                <a:solidFill>
                  <a:srgbClr val="0F2240"/>
                </a:solidFill>
              </a:rPr>
              <a:t> de acuerdo a los inputs del prospecto.</a:t>
            </a:r>
            <a:endParaRPr sz="1200" b="0" dirty="0">
              <a:solidFill>
                <a:srgbClr val="0F2240"/>
              </a:solidFill>
            </a:endParaRPr>
          </a:p>
          <a:p>
            <a:pPr>
              <a:spcBef>
                <a:spcPts val="600"/>
              </a:spcBef>
              <a:defRPr sz="1050" b="1">
                <a:solidFill>
                  <a:srgbClr val="074594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Entregable</a:t>
            </a:r>
            <a:r>
              <a:rPr sz="1200" dirty="0"/>
              <a:t> al </a:t>
            </a:r>
            <a:r>
              <a:rPr sz="1200" dirty="0" err="1"/>
              <a:t>Negocio</a:t>
            </a:r>
            <a:r>
              <a:rPr sz="1200" dirty="0"/>
              <a:t>: </a:t>
            </a:r>
            <a:r>
              <a:rPr sz="1200" b="0" dirty="0">
                <a:solidFill>
                  <a:srgbClr val="0F2240"/>
                </a:solidFill>
              </a:rPr>
              <a:t>Lead </a:t>
            </a:r>
            <a:r>
              <a:rPr sz="1200" b="0" dirty="0" err="1">
                <a:solidFill>
                  <a:srgbClr val="0F2240"/>
                </a:solidFill>
              </a:rPr>
              <a:t>calificado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entregado</a:t>
            </a:r>
            <a:r>
              <a:rPr sz="1200" b="0" dirty="0">
                <a:solidFill>
                  <a:srgbClr val="0F2240"/>
                </a:solidFill>
              </a:rPr>
              <a:t> al </a:t>
            </a:r>
            <a:r>
              <a:rPr sz="1200" b="0" dirty="0" err="1">
                <a:solidFill>
                  <a:srgbClr val="0F2240"/>
                </a:solidFill>
              </a:rPr>
              <a:t>ejecutivo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comercial</a:t>
            </a:r>
            <a:r>
              <a:rPr sz="1200" b="0" dirty="0">
                <a:solidFill>
                  <a:srgbClr val="0F2240"/>
                </a:solidFill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23560"/>
            <a:ext cx="4937760" cy="502920"/>
          </a:xfrm>
          <a:prstGeom prst="roundRect">
            <a:avLst/>
          </a:prstGeom>
          <a:solidFill>
            <a:srgbClr val="EEF6FF"/>
          </a:solidFill>
          <a:ln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74594"/>
                </a:solidFill>
              </a:defRPr>
            </a:pPr>
            <a:r>
              <a:rPr sz="1100" dirty="0"/>
              <a:t>Tiempo de </a:t>
            </a:r>
            <a:r>
              <a:rPr sz="1100" dirty="0" err="1"/>
              <a:t>Atención</a:t>
            </a:r>
            <a:r>
              <a:rPr sz="1100" dirty="0"/>
              <a:t>: De 20 min a 90 seg  |  </a:t>
            </a:r>
            <a:r>
              <a:rPr lang="es-PA" sz="1100" dirty="0"/>
              <a:t>Incremento </a:t>
            </a:r>
            <a:r>
              <a:rPr sz="1100" dirty="0" err="1"/>
              <a:t>Captura</a:t>
            </a:r>
            <a:r>
              <a:rPr sz="1100" dirty="0"/>
              <a:t> de </a:t>
            </a:r>
            <a:r>
              <a:rPr sz="1100" dirty="0" err="1"/>
              <a:t>Prospectos</a:t>
            </a:r>
            <a:endParaRPr sz="1100" dirty="0"/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539496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5" name="Rounded Rectangle 14"/>
          <p:cNvSpPr/>
          <p:nvPr/>
        </p:nvSpPr>
        <p:spPr>
          <a:xfrm>
            <a:off x="6400800" y="1920240"/>
            <a:ext cx="502920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16A34A"/>
                </a:solidFill>
              </a:defRPr>
            </a:pPr>
            <a:r>
              <a:rPr sz="1200"/>
              <a:t>PRODUCTO 02: Operaciones y Eficiencia</a:t>
            </a:r>
          </a:p>
          <a:p>
            <a:pPr>
              <a:defRPr sz="1050">
                <a:solidFill>
                  <a:srgbClr val="0F2240"/>
                </a:solidFill>
              </a:defRPr>
            </a:pPr>
            <a:r>
              <a:rPr sz="1200"/>
              <a:t>Asistente Desacoplado de Formalización (Back-Office)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606040"/>
            <a:ext cx="493776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6A34A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Objetivo</a:t>
            </a:r>
            <a:r>
              <a:rPr sz="1200" dirty="0"/>
              <a:t> de </a:t>
            </a:r>
            <a:r>
              <a:rPr sz="1200" dirty="0" err="1"/>
              <a:t>Negocio</a:t>
            </a:r>
            <a:r>
              <a:rPr sz="1200" dirty="0"/>
              <a:t>: </a:t>
            </a:r>
            <a:r>
              <a:rPr sz="1200" b="0" dirty="0" err="1">
                <a:solidFill>
                  <a:srgbClr val="0F2240"/>
                </a:solidFill>
              </a:rPr>
              <a:t>Acelerar</a:t>
            </a:r>
            <a:r>
              <a:rPr sz="1200" b="0" dirty="0">
                <a:solidFill>
                  <a:srgbClr val="0F2240"/>
                </a:solidFill>
              </a:rPr>
              <a:t> la </a:t>
            </a:r>
            <a:r>
              <a:rPr sz="1200" b="0" dirty="0" err="1">
                <a:solidFill>
                  <a:srgbClr val="0F2240"/>
                </a:solidFill>
              </a:rPr>
              <a:t>confección</a:t>
            </a:r>
            <a:r>
              <a:rPr sz="1200" b="0" dirty="0">
                <a:solidFill>
                  <a:srgbClr val="0F2240"/>
                </a:solidFill>
              </a:rPr>
              <a:t> y </a:t>
            </a:r>
            <a:r>
              <a:rPr sz="1200" b="0" dirty="0" err="1">
                <a:solidFill>
                  <a:srgbClr val="0F2240"/>
                </a:solidFill>
              </a:rPr>
              <a:t>firma</a:t>
            </a:r>
            <a:r>
              <a:rPr sz="1200" b="0" dirty="0">
                <a:solidFill>
                  <a:srgbClr val="0F2240"/>
                </a:solidFill>
              </a:rPr>
              <a:t> de </a:t>
            </a:r>
            <a:r>
              <a:rPr sz="1200" b="0" dirty="0" err="1">
                <a:solidFill>
                  <a:srgbClr val="0F2240"/>
                </a:solidFill>
              </a:rPr>
              <a:t>préstamos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personales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aprobados</a:t>
            </a:r>
            <a:r>
              <a:rPr sz="1200" b="0" dirty="0">
                <a:solidFill>
                  <a:srgbClr val="0F2240"/>
                </a:solidFill>
              </a:rPr>
              <a:t> sin </a:t>
            </a:r>
            <a:r>
              <a:rPr sz="1200" b="0" dirty="0" err="1">
                <a:solidFill>
                  <a:srgbClr val="0F2240"/>
                </a:solidFill>
              </a:rPr>
              <a:t>alterar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sistemas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bancarios</a:t>
            </a:r>
            <a:r>
              <a:rPr sz="1200" b="0" dirty="0">
                <a:solidFill>
                  <a:srgbClr val="0F2240"/>
                </a:solidFill>
              </a:rPr>
              <a:t> (Cero </a:t>
            </a:r>
            <a:r>
              <a:rPr sz="1200" b="0" dirty="0" err="1">
                <a:solidFill>
                  <a:srgbClr val="0F2240"/>
                </a:solidFill>
              </a:rPr>
              <a:t>riesgo</a:t>
            </a:r>
            <a:r>
              <a:rPr sz="1200" b="0" dirty="0">
                <a:solidFill>
                  <a:srgbClr val="0F2240"/>
                </a:solidFill>
              </a:rPr>
              <a:t> de IT).</a:t>
            </a:r>
          </a:p>
          <a:p>
            <a:pPr>
              <a:spcBef>
                <a:spcPts val="600"/>
              </a:spcBef>
              <a:defRPr sz="1050" b="1">
                <a:solidFill>
                  <a:srgbClr val="16A34A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Auditoría</a:t>
            </a:r>
            <a:r>
              <a:rPr sz="1200" dirty="0"/>
              <a:t> y </a:t>
            </a:r>
            <a:r>
              <a:rPr sz="1200" dirty="0" err="1"/>
              <a:t>Semáforo</a:t>
            </a:r>
            <a:r>
              <a:rPr sz="1200" dirty="0"/>
              <a:t>: </a:t>
            </a:r>
            <a:r>
              <a:rPr sz="1200" b="0" dirty="0">
                <a:solidFill>
                  <a:srgbClr val="0F2240"/>
                </a:solidFill>
              </a:rPr>
              <a:t>Filtra </a:t>
            </a:r>
            <a:r>
              <a:rPr sz="1200" b="0" dirty="0" err="1">
                <a:solidFill>
                  <a:srgbClr val="0F2240"/>
                </a:solidFill>
              </a:rPr>
              <a:t>en</a:t>
            </a:r>
            <a:r>
              <a:rPr sz="1200" b="0" dirty="0">
                <a:solidFill>
                  <a:srgbClr val="0F2240"/>
                </a:solidFill>
              </a:rPr>
              <a:t> 5 seg </a:t>
            </a:r>
            <a:r>
              <a:rPr sz="1200" b="0" dirty="0" err="1">
                <a:solidFill>
                  <a:srgbClr val="0F2240"/>
                </a:solidFill>
              </a:rPr>
              <a:t>expedientes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incompletos</a:t>
            </a:r>
            <a:r>
              <a:rPr sz="1200" b="0" dirty="0">
                <a:solidFill>
                  <a:srgbClr val="0F2240"/>
                </a:solidFill>
              </a:rPr>
              <a:t>; </a:t>
            </a:r>
            <a:r>
              <a:rPr sz="1200" b="0" dirty="0" err="1">
                <a:solidFill>
                  <a:srgbClr val="0F2240"/>
                </a:solidFill>
              </a:rPr>
              <a:t>detiene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casos</a:t>
            </a:r>
            <a:r>
              <a:rPr sz="1200" b="0" dirty="0">
                <a:solidFill>
                  <a:srgbClr val="0F2240"/>
                </a:solidFill>
              </a:rPr>
              <a:t> de </a:t>
            </a:r>
            <a:r>
              <a:rPr sz="1200" b="0" dirty="0" err="1">
                <a:solidFill>
                  <a:srgbClr val="0F2240"/>
                </a:solidFill>
              </a:rPr>
              <a:t>jubilados</a:t>
            </a:r>
            <a:r>
              <a:rPr sz="1200" b="0" dirty="0">
                <a:solidFill>
                  <a:srgbClr val="0F2240"/>
                </a:solidFill>
              </a:rPr>
              <a:t> sin </a:t>
            </a:r>
            <a:r>
              <a:rPr sz="1200" b="0" dirty="0" err="1">
                <a:solidFill>
                  <a:srgbClr val="0F2240"/>
                </a:solidFill>
              </a:rPr>
              <a:t>certificado</a:t>
            </a:r>
            <a:r>
              <a:rPr sz="1200" b="0" dirty="0">
                <a:solidFill>
                  <a:srgbClr val="0F2240"/>
                </a:solidFill>
              </a:rPr>
              <a:t> de CSS (</a:t>
            </a:r>
            <a:r>
              <a:rPr sz="1200" b="0" dirty="0" err="1">
                <a:solidFill>
                  <a:srgbClr val="0F2240"/>
                </a:solidFill>
              </a:rPr>
              <a:t>evita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lang="es-PA" sz="1200" b="0" dirty="0">
                <a:solidFill>
                  <a:srgbClr val="0F2240"/>
                </a:solidFill>
              </a:rPr>
              <a:t>varios</a:t>
            </a:r>
            <a:r>
              <a:rPr sz="1200" b="0" dirty="0">
                <a:solidFill>
                  <a:srgbClr val="0F2240"/>
                </a:solidFill>
              </a:rPr>
              <a:t> días de </a:t>
            </a:r>
            <a:r>
              <a:rPr sz="1200" b="0" dirty="0" err="1">
                <a:solidFill>
                  <a:srgbClr val="0F2240"/>
                </a:solidFill>
              </a:rPr>
              <a:t>espera</a:t>
            </a:r>
            <a:r>
              <a:rPr sz="1200" b="0" dirty="0">
                <a:solidFill>
                  <a:srgbClr val="0F2240"/>
                </a:solidFill>
              </a:rPr>
              <a:t>).</a:t>
            </a:r>
          </a:p>
          <a:p>
            <a:pPr>
              <a:spcBef>
                <a:spcPts val="600"/>
              </a:spcBef>
              <a:defRPr sz="1050" b="1">
                <a:solidFill>
                  <a:srgbClr val="16A34A"/>
                </a:solidFill>
              </a:defRPr>
            </a:pPr>
            <a:r>
              <a:rPr sz="1200" dirty="0"/>
              <a:t>• Smart Clipboard: </a:t>
            </a:r>
            <a:r>
              <a:rPr sz="1200" b="0" dirty="0" err="1">
                <a:solidFill>
                  <a:srgbClr val="0F2240"/>
                </a:solidFill>
              </a:rPr>
              <a:t>Extracción</a:t>
            </a:r>
            <a:r>
              <a:rPr sz="1200" b="0" dirty="0">
                <a:solidFill>
                  <a:srgbClr val="0F2240"/>
                </a:solidFill>
              </a:rPr>
              <a:t> de cartas y </a:t>
            </a:r>
            <a:r>
              <a:rPr sz="1200" b="0" dirty="0" err="1">
                <a:solidFill>
                  <a:srgbClr val="0F2240"/>
                </a:solidFill>
              </a:rPr>
              <a:t>talonarios</a:t>
            </a:r>
            <a:r>
              <a:rPr sz="1200" b="0" dirty="0">
                <a:solidFill>
                  <a:srgbClr val="0F2240"/>
                </a:solidFill>
              </a:rPr>
              <a:t> de </a:t>
            </a:r>
            <a:r>
              <a:rPr sz="1200" b="0" dirty="0" err="1">
                <a:solidFill>
                  <a:srgbClr val="0F2240"/>
                </a:solidFill>
              </a:rPr>
              <a:t>Contraloría</a:t>
            </a:r>
            <a:r>
              <a:rPr sz="1200" b="0" dirty="0">
                <a:solidFill>
                  <a:srgbClr val="0F2240"/>
                </a:solidFill>
              </a:rPr>
              <a:t>. </a:t>
            </a:r>
            <a:r>
              <a:rPr sz="1200" b="0" dirty="0" err="1">
                <a:solidFill>
                  <a:srgbClr val="0F2240"/>
                </a:solidFill>
              </a:rPr>
              <a:t>Copiado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en</a:t>
            </a:r>
            <a:r>
              <a:rPr sz="1200" b="0" dirty="0">
                <a:solidFill>
                  <a:srgbClr val="0F2240"/>
                </a:solidFill>
              </a:rPr>
              <a:t> 1 </a:t>
            </a:r>
            <a:r>
              <a:rPr sz="1200" b="0" dirty="0" err="1">
                <a:solidFill>
                  <a:srgbClr val="0F2240"/>
                </a:solidFill>
              </a:rPr>
              <a:t>clic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hacia</a:t>
            </a:r>
            <a:r>
              <a:rPr sz="1200" b="0" dirty="0">
                <a:solidFill>
                  <a:srgbClr val="0F2240"/>
                </a:solidFill>
              </a:rPr>
              <a:t> Ultimus (de 10 min a 40 seg, 0% error </a:t>
            </a:r>
            <a:r>
              <a:rPr sz="1200" b="0" dirty="0" err="1">
                <a:solidFill>
                  <a:srgbClr val="0F2240"/>
                </a:solidFill>
              </a:rPr>
              <a:t>tipeo</a:t>
            </a:r>
            <a:r>
              <a:rPr sz="1200" b="0" dirty="0">
                <a:solidFill>
                  <a:srgbClr val="0F2240"/>
                </a:solidFill>
              </a:rPr>
              <a:t>).</a:t>
            </a:r>
          </a:p>
          <a:p>
            <a:pPr>
              <a:spcBef>
                <a:spcPts val="600"/>
              </a:spcBef>
              <a:defRPr sz="1050" b="1">
                <a:solidFill>
                  <a:srgbClr val="16A34A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Ensamblador</a:t>
            </a:r>
            <a:r>
              <a:rPr sz="1200" dirty="0"/>
              <a:t> Contractual: </a:t>
            </a:r>
            <a:r>
              <a:rPr sz="1200" b="0" dirty="0" err="1">
                <a:solidFill>
                  <a:srgbClr val="0F2240"/>
                </a:solidFill>
              </a:rPr>
              <a:t>Procesa</a:t>
            </a:r>
            <a:r>
              <a:rPr lang="es-PA" sz="1200" b="0" dirty="0">
                <a:solidFill>
                  <a:srgbClr val="0F2240"/>
                </a:solidFill>
              </a:rPr>
              <a:t> insumos documentales como</a:t>
            </a:r>
            <a:r>
              <a:rPr sz="1200" b="0" dirty="0">
                <a:solidFill>
                  <a:srgbClr val="0F2240"/>
                </a:solidFill>
              </a:rPr>
              <a:t> cartas de </a:t>
            </a:r>
            <a:r>
              <a:rPr sz="1200" b="0" dirty="0" err="1">
                <a:solidFill>
                  <a:srgbClr val="0F2240"/>
                </a:solidFill>
              </a:rPr>
              <a:t>saldo</a:t>
            </a:r>
            <a:r>
              <a:rPr sz="1200" b="0" dirty="0">
                <a:solidFill>
                  <a:srgbClr val="0F2240"/>
                </a:solidFill>
              </a:rPr>
              <a:t> de </a:t>
            </a:r>
            <a:r>
              <a:rPr sz="1200" b="0" dirty="0" err="1">
                <a:solidFill>
                  <a:srgbClr val="0F2240"/>
                </a:solidFill>
              </a:rPr>
              <a:t>otros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bancos</a:t>
            </a:r>
            <a:r>
              <a:rPr sz="1200" b="0" dirty="0">
                <a:solidFill>
                  <a:srgbClr val="0F2240"/>
                </a:solidFill>
              </a:rPr>
              <a:t> y genera </a:t>
            </a:r>
            <a:r>
              <a:rPr sz="1200" b="0" dirty="0" err="1">
                <a:solidFill>
                  <a:srgbClr val="0F2240"/>
                </a:solidFill>
              </a:rPr>
              <a:t>pagarés</a:t>
            </a:r>
            <a:r>
              <a:rPr sz="1200" b="0" dirty="0">
                <a:solidFill>
                  <a:srgbClr val="0F2240"/>
                </a:solidFill>
              </a:rPr>
              <a:t> y </a:t>
            </a:r>
            <a:r>
              <a:rPr sz="1200" b="0" dirty="0" err="1">
                <a:solidFill>
                  <a:srgbClr val="0F2240"/>
                </a:solidFill>
              </a:rPr>
              <a:t>promesas</a:t>
            </a:r>
            <a:r>
              <a:rPr sz="1200" b="0" dirty="0">
                <a:solidFill>
                  <a:srgbClr val="0F2240"/>
                </a:solidFill>
              </a:rPr>
              <a:t> de </a:t>
            </a:r>
            <a:r>
              <a:rPr sz="1200" b="0" dirty="0" err="1">
                <a:solidFill>
                  <a:srgbClr val="0F2240"/>
                </a:solidFill>
              </a:rPr>
              <a:t>pago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listas</a:t>
            </a:r>
            <a:r>
              <a:rPr sz="1200" b="0" dirty="0">
                <a:solidFill>
                  <a:srgbClr val="0F2240"/>
                </a:solidFill>
              </a:rPr>
              <a:t> para </a:t>
            </a:r>
            <a:r>
              <a:rPr sz="1200" b="0" dirty="0" err="1">
                <a:solidFill>
                  <a:srgbClr val="0F2240"/>
                </a:solidFill>
              </a:rPr>
              <a:t>firma</a:t>
            </a:r>
            <a:r>
              <a:rPr sz="1200" b="0" dirty="0">
                <a:solidFill>
                  <a:srgbClr val="0F2240"/>
                </a:solidFill>
              </a:rPr>
              <a:t> del </a:t>
            </a:r>
            <a:r>
              <a:rPr sz="1200" b="0" dirty="0" err="1">
                <a:solidFill>
                  <a:srgbClr val="0F2240"/>
                </a:solidFill>
              </a:rPr>
              <a:t>cliente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en</a:t>
            </a:r>
            <a:r>
              <a:rPr lang="es-PA" sz="1200" b="0" dirty="0">
                <a:solidFill>
                  <a:srgbClr val="0F2240"/>
                </a:solidFill>
              </a:rPr>
              <a:t> pocos segundos</a:t>
            </a:r>
            <a:r>
              <a:rPr sz="1200" b="0" dirty="0">
                <a:solidFill>
                  <a:srgbClr val="0F2240"/>
                </a:solidFill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623560"/>
            <a:ext cx="5029200" cy="50292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6A34A"/>
                </a:solidFill>
              </a:defRPr>
            </a:pPr>
            <a:r>
              <a:rPr sz="1100" dirty="0" err="1"/>
              <a:t>Reducción</a:t>
            </a:r>
            <a:r>
              <a:rPr sz="1100" dirty="0"/>
              <a:t> </a:t>
            </a:r>
            <a:r>
              <a:rPr sz="1100" dirty="0" err="1"/>
              <a:t>Operativa</a:t>
            </a:r>
            <a:r>
              <a:rPr sz="1100" dirty="0"/>
              <a:t>: De 60 min a 2 min </a:t>
            </a:r>
            <a:r>
              <a:rPr sz="1100" dirty="0" err="1"/>
              <a:t>por</a:t>
            </a:r>
            <a:r>
              <a:rPr sz="1100" dirty="0"/>
              <a:t> </a:t>
            </a:r>
            <a:r>
              <a:rPr sz="1100" dirty="0" err="1"/>
              <a:t>préstamo</a:t>
            </a:r>
            <a:r>
              <a:rPr sz="1100" dirty="0"/>
              <a:t>  |  0% Error </a:t>
            </a:r>
            <a:r>
              <a:rPr lang="es-PA" sz="1100" dirty="0"/>
              <a:t>Manual</a:t>
            </a:r>
            <a:endParaRPr sz="110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3A877D7E-9D96-B794-3F3A-727CA98D5C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99"/>
          <a:stretch>
            <a:fillRect/>
          </a:stretch>
        </p:blipFill>
        <p:spPr>
          <a:xfrm>
            <a:off x="7701173" y="210165"/>
            <a:ext cx="2082907" cy="7499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PRODUCTO 01 — ASESOR VIRTUAL DE AUTO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Agente para Feria de Autos: El Reto en el Stand Comercial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0" name="TextBox 9"/>
          <p:cNvSpPr txBox="1"/>
          <p:nvPr/>
        </p:nvSpPr>
        <p:spPr>
          <a:xfrm>
            <a:off x="822960" y="1417320"/>
            <a:ext cx="256704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rPr sz="1200"/>
              <a:t>La Fricción Operativa Actual en Ferias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20240"/>
            <a:ext cx="475488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DC2626"/>
                </a:solidFill>
              </a:defRPr>
            </a:pPr>
            <a:r>
              <a:rPr sz="1200"/>
              <a:t>• Aglomeración en Horas Pico: </a:t>
            </a:r>
            <a:r>
              <a:rPr sz="1200" b="0">
                <a:solidFill>
                  <a:srgbClr val="0F2240"/>
                </a:solidFill>
              </a:rPr>
              <a:t>Durante ferias como Panamá Motor Show, decenas de personas se acercan al stand simultáneamente; los ejecutivos no dan abasto.</a:t>
            </a:r>
          </a:p>
          <a:p>
            <a:pPr>
              <a:spcBef>
                <a:spcPts val="800"/>
              </a:spcBef>
              <a:defRPr sz="1050" b="1">
                <a:solidFill>
                  <a:srgbClr val="DC2626"/>
                </a:solidFill>
              </a:defRPr>
            </a:pPr>
            <a:r>
              <a:rPr sz="1200"/>
              <a:t>• Pérdida de Prospectos Calificados: </a:t>
            </a:r>
            <a:r>
              <a:rPr sz="1200" b="0">
                <a:solidFill>
                  <a:srgbClr val="0F2240"/>
                </a:solidFill>
              </a:rPr>
              <a:t>Los clientes que esperan más de 10 minutos se marchan a stands de bancos competidores sin cotizar.</a:t>
            </a:r>
          </a:p>
          <a:p>
            <a:pPr>
              <a:spcBef>
                <a:spcPts val="800"/>
              </a:spcBef>
              <a:defRPr sz="1050" b="1">
                <a:solidFill>
                  <a:srgbClr val="DC2626"/>
                </a:solidFill>
              </a:defRPr>
            </a:pPr>
            <a:r>
              <a:rPr sz="1200"/>
              <a:t>• Consultas Repetitivas y Básicas: </a:t>
            </a:r>
            <a:r>
              <a:rPr sz="1200" b="0">
                <a:solidFill>
                  <a:srgbClr val="0F2240"/>
                </a:solidFill>
              </a:rPr>
              <a:t>El 70% del tiempo de los ejecutivos se consume respondiendo: '¿Cuánto tengo que pagar por este auto?' o '¿Califico con mi salario?'.</a:t>
            </a:r>
          </a:p>
          <a:p>
            <a:pPr>
              <a:spcBef>
                <a:spcPts val="800"/>
              </a:spcBef>
              <a:defRPr sz="1050" b="1">
                <a:solidFill>
                  <a:srgbClr val="DC2626"/>
                </a:solidFill>
              </a:defRPr>
            </a:pPr>
            <a:r>
              <a:rPr sz="1200"/>
              <a:t>• Leads Incompletos en Papel: </a:t>
            </a:r>
            <a:r>
              <a:rPr sz="1200" b="0">
                <a:solidFill>
                  <a:srgbClr val="0F2240"/>
                </a:solidFill>
              </a:rPr>
              <a:t>Anotaciones en volantes que luego se extravían o tardan días en registrarse en el sistema bancario.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94960" cy="4937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274235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rPr sz="1200"/>
              <a:t>La Propuesta de Valor del Asesor Virtual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484632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6A34A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Atención</a:t>
            </a:r>
            <a:r>
              <a:rPr sz="1200" dirty="0"/>
              <a:t> </a:t>
            </a:r>
            <a:r>
              <a:rPr sz="1200" dirty="0" err="1"/>
              <a:t>Simultánea</a:t>
            </a:r>
            <a:r>
              <a:rPr sz="1200" dirty="0"/>
              <a:t> e </a:t>
            </a:r>
            <a:r>
              <a:rPr sz="1200" dirty="0" err="1"/>
              <a:t>Ilimitada</a:t>
            </a:r>
            <a:r>
              <a:rPr sz="1200" dirty="0"/>
              <a:t>: </a:t>
            </a:r>
            <a:r>
              <a:rPr sz="1200" b="0" dirty="0">
                <a:solidFill>
                  <a:srgbClr val="0F2240"/>
                </a:solidFill>
              </a:rPr>
              <a:t>Los </a:t>
            </a:r>
            <a:r>
              <a:rPr sz="1200" b="0" dirty="0" err="1">
                <a:solidFill>
                  <a:srgbClr val="0F2240"/>
                </a:solidFill>
              </a:rPr>
              <a:t>clientes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interactúan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desde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lang="es-PA" sz="1200" b="0" dirty="0">
                <a:solidFill>
                  <a:srgbClr val="0F2240"/>
                </a:solidFill>
              </a:rPr>
              <a:t>dispositivo </a:t>
            </a:r>
            <a:r>
              <a:rPr lang="es-PA" sz="1200" b="0" dirty="0" err="1">
                <a:solidFill>
                  <a:srgbClr val="0F2240"/>
                </a:solidFill>
              </a:rPr>
              <a:t>movil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lang="es-PA"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escaneando</a:t>
            </a:r>
            <a:r>
              <a:rPr sz="1200" b="0" dirty="0">
                <a:solidFill>
                  <a:srgbClr val="0F2240"/>
                </a:solidFill>
              </a:rPr>
              <a:t> un </a:t>
            </a:r>
            <a:r>
              <a:rPr sz="1200" b="0" dirty="0" err="1">
                <a:solidFill>
                  <a:srgbClr val="0F2240"/>
                </a:solidFill>
              </a:rPr>
              <a:t>código</a:t>
            </a:r>
            <a:r>
              <a:rPr sz="1200" b="0" dirty="0">
                <a:solidFill>
                  <a:srgbClr val="0F2240"/>
                </a:solidFill>
              </a:rPr>
              <a:t> QR </a:t>
            </a:r>
            <a:r>
              <a:rPr sz="1200" b="0" dirty="0" err="1">
                <a:solidFill>
                  <a:srgbClr val="0F2240"/>
                </a:solidFill>
              </a:rPr>
              <a:t>en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su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celular</a:t>
            </a:r>
            <a:r>
              <a:rPr sz="1200" b="0" dirty="0">
                <a:solidFill>
                  <a:srgbClr val="0F2240"/>
                </a:solidFill>
              </a:rPr>
              <a:t>.</a:t>
            </a:r>
          </a:p>
          <a:p>
            <a:pPr>
              <a:spcBef>
                <a:spcPts val="800"/>
              </a:spcBef>
              <a:defRPr sz="1050" b="1">
                <a:solidFill>
                  <a:srgbClr val="16A34A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Calificación</a:t>
            </a:r>
            <a:r>
              <a:rPr sz="1200" dirty="0"/>
              <a:t> </a:t>
            </a:r>
            <a:r>
              <a:rPr sz="1200" dirty="0" err="1"/>
              <a:t>Inteligente</a:t>
            </a:r>
            <a:r>
              <a:rPr sz="1200" dirty="0"/>
              <a:t> </a:t>
            </a:r>
            <a:r>
              <a:rPr sz="1200" dirty="0" err="1"/>
              <a:t>en</a:t>
            </a:r>
            <a:r>
              <a:rPr sz="1200" dirty="0"/>
              <a:t> 90 </a:t>
            </a:r>
            <a:r>
              <a:rPr sz="1200" dirty="0" err="1"/>
              <a:t>Segundos</a:t>
            </a:r>
            <a:r>
              <a:rPr sz="1200" dirty="0"/>
              <a:t>: </a:t>
            </a:r>
            <a:r>
              <a:rPr sz="1200" b="0" dirty="0">
                <a:solidFill>
                  <a:srgbClr val="0F2240"/>
                </a:solidFill>
              </a:rPr>
              <a:t>Filtra </a:t>
            </a:r>
            <a:r>
              <a:rPr sz="1200" b="0" dirty="0" err="1">
                <a:solidFill>
                  <a:srgbClr val="0F2240"/>
                </a:solidFill>
              </a:rPr>
              <a:t>según</a:t>
            </a:r>
            <a:r>
              <a:rPr sz="1200" b="0" dirty="0">
                <a:solidFill>
                  <a:srgbClr val="0F2240"/>
                </a:solidFill>
              </a:rPr>
              <a:t> la </a:t>
            </a:r>
            <a:r>
              <a:rPr sz="1200" b="0" dirty="0" err="1">
                <a:solidFill>
                  <a:srgbClr val="0F2240"/>
                </a:solidFill>
              </a:rPr>
              <a:t>política</a:t>
            </a:r>
            <a:r>
              <a:rPr sz="1200" b="0" dirty="0">
                <a:solidFill>
                  <a:srgbClr val="0F2240"/>
                </a:solidFill>
              </a:rPr>
              <a:t> de </a:t>
            </a:r>
            <a:r>
              <a:rPr sz="1200" b="0" dirty="0" err="1">
                <a:solidFill>
                  <a:srgbClr val="0F2240"/>
                </a:solidFill>
              </a:rPr>
              <a:t>crédito</a:t>
            </a:r>
            <a:r>
              <a:rPr sz="1200" b="0" dirty="0">
                <a:solidFill>
                  <a:srgbClr val="0F2240"/>
                </a:solidFill>
              </a:rPr>
              <a:t> CDA (</a:t>
            </a:r>
            <a:r>
              <a:rPr sz="1200" b="0" dirty="0" err="1">
                <a:solidFill>
                  <a:srgbClr val="0F2240"/>
                </a:solidFill>
              </a:rPr>
              <a:t>edad</a:t>
            </a:r>
            <a:r>
              <a:rPr sz="1200" b="0" dirty="0">
                <a:solidFill>
                  <a:srgbClr val="0F2240"/>
                </a:solidFill>
              </a:rPr>
              <a:t> 21-75, </a:t>
            </a:r>
            <a:r>
              <a:rPr sz="1200" b="0" dirty="0" err="1">
                <a:solidFill>
                  <a:srgbClr val="0F2240"/>
                </a:solidFill>
              </a:rPr>
              <a:t>ingresos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mínimos</a:t>
            </a:r>
            <a:r>
              <a:rPr sz="1200" b="0" dirty="0">
                <a:solidFill>
                  <a:srgbClr val="0F2240"/>
                </a:solidFill>
              </a:rPr>
              <a:t>, </a:t>
            </a:r>
            <a:r>
              <a:rPr sz="1200" b="0" dirty="0" err="1">
                <a:solidFill>
                  <a:srgbClr val="0F2240"/>
                </a:solidFill>
              </a:rPr>
              <a:t>estabilidad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laboral</a:t>
            </a:r>
            <a:r>
              <a:rPr sz="1200" b="0" dirty="0">
                <a:solidFill>
                  <a:srgbClr val="0F2240"/>
                </a:solidFill>
              </a:rPr>
              <a:t>) sin </a:t>
            </a:r>
            <a:r>
              <a:rPr sz="1200" b="0" dirty="0" err="1">
                <a:solidFill>
                  <a:srgbClr val="0F2240"/>
                </a:solidFill>
              </a:rPr>
              <a:t>fricción</a:t>
            </a:r>
            <a:r>
              <a:rPr sz="1200" b="0" dirty="0">
                <a:solidFill>
                  <a:srgbClr val="0F2240"/>
                </a:solidFill>
              </a:rPr>
              <a:t>.</a:t>
            </a:r>
          </a:p>
          <a:p>
            <a:pPr>
              <a:spcBef>
                <a:spcPts val="800"/>
              </a:spcBef>
              <a:defRPr sz="1050" b="1">
                <a:solidFill>
                  <a:srgbClr val="16A34A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Simulación</a:t>
            </a:r>
            <a:r>
              <a:rPr sz="1200" dirty="0"/>
              <a:t> Visual y Transparente: </a:t>
            </a:r>
            <a:r>
              <a:rPr sz="1200" b="0" dirty="0">
                <a:solidFill>
                  <a:srgbClr val="0F2240"/>
                </a:solidFill>
              </a:rPr>
              <a:t>Presenta al </a:t>
            </a:r>
            <a:r>
              <a:rPr sz="1200" b="0" dirty="0" err="1">
                <a:solidFill>
                  <a:srgbClr val="0F2240"/>
                </a:solidFill>
              </a:rPr>
              <a:t>instante</a:t>
            </a:r>
            <a:r>
              <a:rPr sz="1200" b="0" dirty="0">
                <a:solidFill>
                  <a:srgbClr val="0F2240"/>
                </a:solidFill>
              </a:rPr>
              <a:t> la </a:t>
            </a:r>
            <a:r>
              <a:rPr sz="1200" b="0" dirty="0" err="1">
                <a:solidFill>
                  <a:srgbClr val="0F2240"/>
                </a:solidFill>
              </a:rPr>
              <a:t>letra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estimada</a:t>
            </a:r>
            <a:r>
              <a:rPr sz="1200" b="0" dirty="0">
                <a:solidFill>
                  <a:srgbClr val="0F2240"/>
                </a:solidFill>
              </a:rPr>
              <a:t>, </a:t>
            </a:r>
            <a:r>
              <a:rPr sz="1200" b="0" dirty="0" err="1">
                <a:solidFill>
                  <a:srgbClr val="0F2240"/>
                </a:solidFill>
              </a:rPr>
              <a:t>ajustando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sz="1200" b="0" dirty="0" err="1">
                <a:solidFill>
                  <a:srgbClr val="0F2240"/>
                </a:solidFill>
              </a:rPr>
              <a:t>plazos</a:t>
            </a:r>
            <a:r>
              <a:rPr sz="1200" b="0" dirty="0">
                <a:solidFill>
                  <a:srgbClr val="0F2240"/>
                </a:solidFill>
              </a:rPr>
              <a:t> y </a:t>
            </a:r>
            <a:r>
              <a:rPr sz="1200" b="0" dirty="0" err="1">
                <a:solidFill>
                  <a:srgbClr val="0F2240"/>
                </a:solidFill>
              </a:rPr>
              <a:t>abonos</a:t>
            </a:r>
            <a:r>
              <a:rPr sz="1200" b="0" dirty="0">
                <a:solidFill>
                  <a:srgbClr val="0F2240"/>
                </a:solidFill>
              </a:rPr>
              <a:t> al </a:t>
            </a:r>
            <a:r>
              <a:rPr sz="1200" b="0" dirty="0" err="1">
                <a:solidFill>
                  <a:srgbClr val="0F2240"/>
                </a:solidFill>
              </a:rPr>
              <a:t>presupuesto</a:t>
            </a:r>
            <a:r>
              <a:rPr sz="1200" b="0" dirty="0">
                <a:solidFill>
                  <a:srgbClr val="0F2240"/>
                </a:solidFill>
              </a:rPr>
              <a:t> del </a:t>
            </a:r>
            <a:r>
              <a:rPr sz="1200" b="0" dirty="0" err="1">
                <a:solidFill>
                  <a:srgbClr val="0F2240"/>
                </a:solidFill>
              </a:rPr>
              <a:t>usuario</a:t>
            </a:r>
            <a:r>
              <a:rPr sz="1200" b="0" dirty="0">
                <a:solidFill>
                  <a:srgbClr val="0F2240"/>
                </a:solidFill>
              </a:rPr>
              <a:t>.</a:t>
            </a:r>
          </a:p>
          <a:p>
            <a:pPr>
              <a:spcBef>
                <a:spcPts val="800"/>
              </a:spcBef>
              <a:defRPr sz="1050" b="1">
                <a:solidFill>
                  <a:srgbClr val="16A34A"/>
                </a:solidFill>
              </a:defRPr>
            </a:pPr>
            <a:r>
              <a:rPr sz="1200" dirty="0"/>
              <a:t>• Cierre </a:t>
            </a:r>
            <a:r>
              <a:rPr sz="1200" dirty="0" err="1"/>
              <a:t>Asistido</a:t>
            </a:r>
            <a:r>
              <a:rPr sz="1200" dirty="0"/>
              <a:t> para el </a:t>
            </a:r>
            <a:r>
              <a:rPr sz="1200" dirty="0" err="1"/>
              <a:t>Ejecutivo</a:t>
            </a:r>
            <a:r>
              <a:rPr sz="1200" dirty="0"/>
              <a:t>: </a:t>
            </a:r>
            <a:r>
              <a:rPr sz="1200" b="0" dirty="0">
                <a:solidFill>
                  <a:srgbClr val="0F2240"/>
                </a:solidFill>
              </a:rPr>
              <a:t>El lead </a:t>
            </a:r>
            <a:r>
              <a:rPr sz="1200" b="0" dirty="0" err="1">
                <a:solidFill>
                  <a:srgbClr val="0F2240"/>
                </a:solidFill>
              </a:rPr>
              <a:t>llega</a:t>
            </a:r>
            <a:r>
              <a:rPr sz="1200" b="0" dirty="0">
                <a:solidFill>
                  <a:srgbClr val="0F2240"/>
                </a:solidFill>
              </a:rPr>
              <a:t> </a:t>
            </a:r>
            <a:r>
              <a:rPr lang="es-PA" sz="1200" b="0" dirty="0">
                <a:solidFill>
                  <a:srgbClr val="0F2240"/>
                </a:solidFill>
              </a:rPr>
              <a:t>al </a:t>
            </a:r>
            <a:r>
              <a:rPr sz="1200" b="0" dirty="0" err="1">
                <a:solidFill>
                  <a:srgbClr val="0F2240"/>
                </a:solidFill>
              </a:rPr>
              <a:t>ejecutivo</a:t>
            </a:r>
            <a:r>
              <a:rPr sz="1200" b="0" dirty="0">
                <a:solidFill>
                  <a:srgbClr val="0F2240"/>
                </a:solidFill>
              </a:rPr>
              <a:t> del stand con la </a:t>
            </a:r>
            <a:r>
              <a:rPr sz="1200" b="0" dirty="0" err="1">
                <a:solidFill>
                  <a:srgbClr val="0F2240"/>
                </a:solidFill>
              </a:rPr>
              <a:t>cotizació</a:t>
            </a:r>
            <a:r>
              <a:rPr lang="es-PA" sz="1200" b="0" dirty="0">
                <a:solidFill>
                  <a:srgbClr val="0F2240"/>
                </a:solidFill>
              </a:rPr>
              <a:t>n estimada</a:t>
            </a:r>
            <a:r>
              <a:rPr sz="1200" b="0" dirty="0">
                <a:solidFill>
                  <a:srgbClr val="0F2240"/>
                </a:solidFill>
              </a:rPr>
              <a:t>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609DF990-530A-4B71-D54C-E7AEEC2927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99"/>
          <a:stretch>
            <a:fillRect/>
          </a:stretch>
        </p:blipFill>
        <p:spPr>
          <a:xfrm>
            <a:off x="7701173" y="210165"/>
            <a:ext cx="2082907" cy="7499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DIAGRAMA DE EXPERIENCIA DE NEGOCIO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Agente para Feria de Autos: Flujo de Interacción del Cliente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740395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F2240"/>
                </a:solidFill>
              </a:defRPr>
            </a:pPr>
            <a:r>
              <a:rPr sz="1200"/>
              <a:t>Flujo paso a paso diseñado para maximizar la conversión en stand, garantizando rigor de crédito en 4 etapas fluidas: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2560320" cy="3794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2560320" cy="41148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sz="1200"/>
              <a:t>PASO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28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74594"/>
                </a:solidFill>
              </a:defRPr>
            </a:pPr>
            <a:r>
              <a:rPr sz="1200"/>
              <a:t>Bienvenida y Prospección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80360"/>
            <a:ext cx="228600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2240"/>
                </a:solidFill>
              </a:defRPr>
            </a:pPr>
            <a:r>
              <a:rPr sz="1200"/>
              <a:t>• Cliente escanea QR o toca pantalla.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rPr sz="1200"/>
              <a:t>• IA saluda cordialmente e indaga marca y modelo de interés.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rPr sz="1200"/>
              <a:t>• Pregunta si es auto nuevo o de segunda.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rPr sz="1200"/>
              <a:t>• Tono cercano, empático y 100% institucional.</a:t>
            </a:r>
          </a:p>
        </p:txBody>
      </p:sp>
      <p:sp>
        <p:nvSpPr>
          <p:cNvPr id="14" name="Chevron 13"/>
          <p:cNvSpPr/>
          <p:nvPr/>
        </p:nvSpPr>
        <p:spPr>
          <a:xfrm>
            <a:off x="3163824" y="3383280"/>
            <a:ext cx="164592" cy="457200"/>
          </a:xfrm>
          <a:prstGeom prst="chevron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5" name="Rounded Rectangle 14"/>
          <p:cNvSpPr/>
          <p:nvPr/>
        </p:nvSpPr>
        <p:spPr>
          <a:xfrm>
            <a:off x="3364992" y="1737360"/>
            <a:ext cx="2560320" cy="3794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6" name="Rectangle 15"/>
          <p:cNvSpPr/>
          <p:nvPr/>
        </p:nvSpPr>
        <p:spPr>
          <a:xfrm>
            <a:off x="3364992" y="1737360"/>
            <a:ext cx="2560320" cy="41148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sz="1200"/>
              <a:t>PASO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240280"/>
            <a:ext cx="228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D97706"/>
                </a:solidFill>
              </a:defRPr>
            </a:pPr>
            <a:r>
              <a:rPr sz="1200"/>
              <a:t>Filtro de Política CDA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880360"/>
            <a:ext cx="228600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2240"/>
                </a:solidFill>
              </a:defRPr>
            </a:pPr>
            <a:r>
              <a:rPr sz="1200"/>
              <a:t>• Verifica edad del solicitante (21 a 75 años al vencer el crédito).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rPr sz="1200"/>
              <a:t>• Consulta ingreso mensual aproximado.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rPr sz="1200"/>
              <a:t>• Valida tipo de empleo (empresa privada, gobierno o independiente).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rPr sz="1200"/>
              <a:t>• Filtra viabilidad antes de ilusionar al cliente.</a:t>
            </a:r>
          </a:p>
        </p:txBody>
      </p:sp>
      <p:sp>
        <p:nvSpPr>
          <p:cNvPr id="19" name="Chevron 18"/>
          <p:cNvSpPr/>
          <p:nvPr/>
        </p:nvSpPr>
        <p:spPr>
          <a:xfrm>
            <a:off x="5980176" y="3383280"/>
            <a:ext cx="164592" cy="457200"/>
          </a:xfrm>
          <a:prstGeom prst="chevron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20" name="Rounded Rectangle 19"/>
          <p:cNvSpPr/>
          <p:nvPr/>
        </p:nvSpPr>
        <p:spPr>
          <a:xfrm>
            <a:off x="6181344" y="1737360"/>
            <a:ext cx="2560320" cy="3794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21" name="Rectangle 20"/>
          <p:cNvSpPr/>
          <p:nvPr/>
        </p:nvSpPr>
        <p:spPr>
          <a:xfrm>
            <a:off x="6181344" y="1737360"/>
            <a:ext cx="2560320" cy="411480"/>
          </a:xfrm>
          <a:prstGeom prst="rect">
            <a:avLst/>
          </a:prstGeom>
          <a:solidFill>
            <a:srgbClr val="00A4E4"/>
          </a:solidFill>
          <a:ln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sz="1200"/>
              <a:t>PASO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240280"/>
            <a:ext cx="228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0A4E4"/>
                </a:solidFill>
              </a:defRPr>
            </a:pPr>
            <a:r>
              <a:rPr sz="1200"/>
              <a:t>Simulación de Cuota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880360"/>
            <a:ext cx="228600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Aplica</a:t>
            </a:r>
            <a:r>
              <a:rPr sz="1200" dirty="0"/>
              <a:t> </a:t>
            </a:r>
            <a:r>
              <a:rPr sz="1200" dirty="0" err="1"/>
              <a:t>parámetros</a:t>
            </a:r>
            <a:r>
              <a:rPr sz="1200" dirty="0"/>
              <a:t> </a:t>
            </a:r>
            <a:r>
              <a:rPr sz="1200" dirty="0" err="1"/>
              <a:t>oficiales</a:t>
            </a:r>
            <a:r>
              <a:rPr sz="1200" dirty="0"/>
              <a:t> de </a:t>
            </a:r>
            <a:r>
              <a:rPr sz="1200" dirty="0" err="1"/>
              <a:t>tasa</a:t>
            </a:r>
            <a:r>
              <a:rPr sz="1200" dirty="0"/>
              <a:t> y </a:t>
            </a:r>
            <a:r>
              <a:rPr sz="1200" dirty="0" err="1"/>
              <a:t>plazo</a:t>
            </a:r>
            <a:r>
              <a:rPr sz="1200" dirty="0"/>
              <a:t> CDA.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lang="es-PA" sz="1200" dirty="0"/>
              <a:t>Estima</a:t>
            </a:r>
            <a:r>
              <a:rPr sz="1200" dirty="0"/>
              <a:t> </a:t>
            </a:r>
            <a:r>
              <a:rPr sz="1200" dirty="0" err="1"/>
              <a:t>cuota</a:t>
            </a:r>
            <a:r>
              <a:rPr sz="1200" dirty="0"/>
              <a:t> </a:t>
            </a:r>
            <a:r>
              <a:rPr sz="1200" dirty="0" err="1"/>
              <a:t>mensual</a:t>
            </a:r>
            <a:r>
              <a:rPr sz="1200" dirty="0"/>
              <a:t> </a:t>
            </a:r>
            <a:r>
              <a:rPr lang="es-PA" sz="1200" dirty="0"/>
              <a:t>aproximada.</a:t>
            </a:r>
            <a:endParaRPr sz="1200" dirty="0"/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Permite</a:t>
            </a:r>
            <a:r>
              <a:rPr sz="1200" dirty="0"/>
              <a:t> al </a:t>
            </a:r>
            <a:r>
              <a:rPr sz="1200" dirty="0" err="1"/>
              <a:t>cliente</a:t>
            </a:r>
            <a:r>
              <a:rPr sz="1200" dirty="0"/>
              <a:t> </a:t>
            </a:r>
            <a:r>
              <a:rPr sz="1200" dirty="0" err="1"/>
              <a:t>ajustar</a:t>
            </a:r>
            <a:r>
              <a:rPr sz="1200" dirty="0"/>
              <a:t> </a:t>
            </a:r>
            <a:r>
              <a:rPr sz="1200" dirty="0" err="1"/>
              <a:t>abono</a:t>
            </a:r>
            <a:r>
              <a:rPr sz="1200" dirty="0"/>
              <a:t> (</a:t>
            </a:r>
            <a:r>
              <a:rPr sz="1200" dirty="0" err="1"/>
              <a:t>ej</a:t>
            </a:r>
            <a:r>
              <a:rPr sz="1200" dirty="0"/>
              <a:t>. 10%, 15%, 20%) para </a:t>
            </a:r>
            <a:r>
              <a:rPr sz="1200" dirty="0" err="1"/>
              <a:t>ver</a:t>
            </a:r>
            <a:r>
              <a:rPr sz="1200" dirty="0"/>
              <a:t> </a:t>
            </a:r>
            <a:r>
              <a:rPr sz="1200" dirty="0" err="1"/>
              <a:t>cómo</a:t>
            </a:r>
            <a:r>
              <a:rPr sz="1200" dirty="0"/>
              <a:t> baja </a:t>
            </a:r>
            <a:r>
              <a:rPr sz="1200" dirty="0" err="1"/>
              <a:t>su</a:t>
            </a:r>
            <a:r>
              <a:rPr sz="1200" dirty="0"/>
              <a:t> </a:t>
            </a:r>
            <a:r>
              <a:rPr sz="1200" dirty="0" err="1"/>
              <a:t>letra</a:t>
            </a:r>
            <a:r>
              <a:rPr sz="1200" dirty="0"/>
              <a:t>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endParaRPr sz="1200" dirty="0"/>
          </a:p>
        </p:txBody>
      </p:sp>
      <p:sp>
        <p:nvSpPr>
          <p:cNvPr id="24" name="Chevron 23"/>
          <p:cNvSpPr/>
          <p:nvPr/>
        </p:nvSpPr>
        <p:spPr>
          <a:xfrm>
            <a:off x="8796528" y="3383280"/>
            <a:ext cx="164592" cy="457200"/>
          </a:xfrm>
          <a:prstGeom prst="chevron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25" name="Rounded Rectangle 24"/>
          <p:cNvSpPr/>
          <p:nvPr/>
        </p:nvSpPr>
        <p:spPr>
          <a:xfrm>
            <a:off x="8997696" y="1737360"/>
            <a:ext cx="2560320" cy="3794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26" name="Rectangle 25"/>
          <p:cNvSpPr/>
          <p:nvPr/>
        </p:nvSpPr>
        <p:spPr>
          <a:xfrm>
            <a:off x="8997696" y="1737360"/>
            <a:ext cx="2560320" cy="4114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sz="1200"/>
              <a:t>PASO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4856" y="2240280"/>
            <a:ext cx="228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6A34A"/>
                </a:solidFill>
              </a:defRPr>
            </a:pPr>
            <a:r>
              <a:rPr sz="1200"/>
              <a:t>Captura y Cierre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2880360"/>
            <a:ext cx="22860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Captura</a:t>
            </a:r>
            <a:r>
              <a:rPr sz="1200" dirty="0"/>
              <a:t> Nombre, Cédula, </a:t>
            </a:r>
            <a:r>
              <a:rPr sz="1200" dirty="0" err="1"/>
              <a:t>Teléfono</a:t>
            </a:r>
            <a:r>
              <a:rPr sz="1200" dirty="0"/>
              <a:t> y Correo.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rPr sz="1200" dirty="0"/>
              <a:t>• Genera </a:t>
            </a:r>
            <a:r>
              <a:rPr sz="1200" dirty="0" err="1"/>
              <a:t>Ficha</a:t>
            </a:r>
            <a:r>
              <a:rPr sz="1200" dirty="0"/>
              <a:t> de Lead </a:t>
            </a:r>
            <a:r>
              <a:rPr sz="1200" dirty="0" err="1"/>
              <a:t>Calificado</a:t>
            </a:r>
            <a:r>
              <a:rPr sz="1200" dirty="0"/>
              <a:t>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lang="es-PA" sz="1200" dirty="0"/>
              <a:t>La información es extraíble para que el ejecutivo accione según su criterio.</a:t>
            </a:r>
            <a:endParaRPr sz="1200" dirty="0"/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rPr sz="1200" dirty="0"/>
              <a:t>•</a:t>
            </a:r>
            <a:r>
              <a:rPr lang="es-PA" sz="1200" dirty="0"/>
              <a:t> El cliente sería abordado por teléfono o correo, con el contexto de la interacción con el agente.</a:t>
            </a:r>
            <a:endParaRPr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548640" y="5715000"/>
            <a:ext cx="11094415" cy="64008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107832"/>
                </a:solidFill>
              </a:defRPr>
            </a:pPr>
            <a:r>
              <a:rPr dirty="0"/>
              <a:t>Impacto </a:t>
            </a:r>
            <a:r>
              <a:rPr dirty="0" err="1"/>
              <a:t>Operativo</a:t>
            </a:r>
            <a:r>
              <a:rPr dirty="0"/>
              <a:t> para el Banco: Reduce el </a:t>
            </a:r>
            <a:r>
              <a:rPr dirty="0" err="1"/>
              <a:t>tiempo</a:t>
            </a:r>
            <a:r>
              <a:rPr dirty="0"/>
              <a:t> de </a:t>
            </a:r>
            <a:r>
              <a:rPr dirty="0" err="1"/>
              <a:t>cotización</a:t>
            </a:r>
            <a:r>
              <a:rPr dirty="0"/>
              <a:t> de 20 </a:t>
            </a:r>
            <a:r>
              <a:rPr dirty="0" err="1"/>
              <a:t>minutos</a:t>
            </a:r>
            <a:r>
              <a:rPr dirty="0"/>
              <a:t> a 90 </a:t>
            </a:r>
            <a:r>
              <a:rPr dirty="0" err="1"/>
              <a:t>segundos</a:t>
            </a:r>
            <a:r>
              <a:rPr dirty="0"/>
              <a:t>. El </a:t>
            </a:r>
            <a:r>
              <a:rPr dirty="0" err="1"/>
              <a:t>ejecutivo</a:t>
            </a:r>
            <a:r>
              <a:rPr dirty="0"/>
              <a:t> del stand </a:t>
            </a:r>
            <a:r>
              <a:rPr dirty="0" err="1"/>
              <a:t>recibe</a:t>
            </a:r>
            <a:r>
              <a:rPr dirty="0"/>
              <a:t> un </a:t>
            </a:r>
            <a:r>
              <a:rPr dirty="0" err="1"/>
              <a:t>prospecto</a:t>
            </a:r>
            <a:r>
              <a:rPr lang="es-PA" dirty="0"/>
              <a:t> </a:t>
            </a:r>
            <a:r>
              <a:rPr dirty="0"/>
              <a:t> </a:t>
            </a:r>
            <a:r>
              <a:rPr lang="es-PA" dirty="0"/>
              <a:t>pre</a:t>
            </a:r>
            <a:r>
              <a:rPr dirty="0" err="1"/>
              <a:t>calificado</a:t>
            </a:r>
            <a:r>
              <a:rPr dirty="0"/>
              <a:t> </a:t>
            </a:r>
            <a:r>
              <a:rPr dirty="0" err="1"/>
              <a:t>según</a:t>
            </a:r>
            <a:r>
              <a:rPr dirty="0"/>
              <a:t> </a:t>
            </a:r>
            <a:r>
              <a:rPr dirty="0" err="1"/>
              <a:t>política</a:t>
            </a:r>
            <a:r>
              <a:rPr dirty="0"/>
              <a:t>, </a:t>
            </a:r>
            <a:r>
              <a:rPr dirty="0" err="1"/>
              <a:t>eliminando</a:t>
            </a:r>
            <a:r>
              <a:rPr dirty="0"/>
              <a:t> </a:t>
            </a:r>
            <a:r>
              <a:rPr dirty="0" err="1"/>
              <a:t>clientes</a:t>
            </a:r>
            <a:r>
              <a:rPr dirty="0"/>
              <a:t> fuera de </a:t>
            </a:r>
            <a:r>
              <a:rPr dirty="0" err="1"/>
              <a:t>perfil</a:t>
            </a:r>
            <a:r>
              <a:rPr dirty="0"/>
              <a:t> y </a:t>
            </a:r>
            <a:r>
              <a:rPr dirty="0" err="1"/>
              <a:t>cerrando</a:t>
            </a:r>
            <a:r>
              <a:rPr dirty="0"/>
              <a:t> </a:t>
            </a:r>
            <a:r>
              <a:rPr dirty="0" err="1"/>
              <a:t>ventas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el acto</a:t>
            </a:r>
            <a:r>
              <a:rPr lang="es-PA" dirty="0"/>
              <a:t> (basado en la conversación con el agente).</a:t>
            </a:r>
            <a:endParaRPr dirty="0"/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EE3B9BC0-8F4E-2581-6642-81AEBB6DC6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99"/>
          <a:stretch>
            <a:fillRect/>
          </a:stretch>
        </p:blipFill>
        <p:spPr>
          <a:xfrm>
            <a:off x="7701173" y="210165"/>
            <a:ext cx="2082907" cy="7499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PRODUCTO 02 — FORMALIZACIÓN DE PRÉSTAMOS PERSONALES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Formalización de Préstamos: Cuellos de Botella Reales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2240"/>
                </a:solidFill>
              </a:defRPr>
            </a:pPr>
            <a:r>
              <a:rPr sz="1200"/>
              <a:t>Una vez el crédito es aprobado por el comité o ejecutivo, comienza la formalización para que el cliente firme y reciba su desembolso. Las sesiones de trabajo con Crédito (Ricardo Herrera) revelaron 3 stoppers críticos: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347472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474720" cy="47548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sz="1200"/>
              <a:t>Stopper 01: Certificado CSS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32004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C2626"/>
                </a:solidFill>
              </a:defRPr>
            </a:pPr>
            <a:r>
              <a:rPr sz="1200"/>
              <a:t>Situación en Jubilados: </a:t>
            </a:r>
            <a:r>
              <a:rPr sz="1200" b="0">
                <a:solidFill>
                  <a:srgbClr val="0F2240"/>
                </a:solidFill>
              </a:rPr>
              <a:t>Para firmar la orden de descuento, se requiere obligatoriamente el certificado físico de jubilación.</a:t>
            </a:r>
          </a:p>
          <a:p>
            <a:pPr>
              <a:spcBef>
                <a:spcPts val="600"/>
              </a:spcBef>
              <a:defRPr sz="1000" b="1">
                <a:solidFill>
                  <a:srgbClr val="DC2626"/>
                </a:solidFill>
              </a:defRPr>
            </a:pPr>
            <a:r>
              <a:rPr sz="1200"/>
              <a:t>Demora de 7 a 20 Días: </a:t>
            </a:r>
            <a:r>
              <a:rPr sz="1200" b="0">
                <a:solidFill>
                  <a:srgbClr val="0F2240"/>
                </a:solidFill>
              </a:rPr>
              <a:t>Este documento depende de la CSS y demora semanas. Si el analista avanza en Ultimus sin él, el expediente queda bloqueado.</a:t>
            </a:r>
          </a:p>
          <a:p>
            <a:pPr>
              <a:spcBef>
                <a:spcPts val="600"/>
              </a:spcBef>
              <a:defRPr sz="1000" b="1">
                <a:solidFill>
                  <a:srgbClr val="DC2626"/>
                </a:solidFill>
              </a:defRPr>
            </a:pPr>
            <a:r>
              <a:rPr sz="1200"/>
              <a:t>Dolor Declarado: </a:t>
            </a:r>
            <a:r>
              <a:rPr sz="1200" b="0">
                <a:solidFill>
                  <a:srgbClr val="0F2240"/>
                </a:solidFill>
              </a:rPr>
              <a:t>'Aunque tenga el préstamo aprobado, no puedo mover para que el cliente firme porque necesito ese número para llenar la orden' (Ricardo Herrera).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760719"/>
            <a:ext cx="3200400" cy="411480"/>
          </a:xfrm>
          <a:prstGeom prst="roundRect">
            <a:avLst/>
          </a:prstGeom>
          <a:solidFill>
            <a:srgbClr val="FEF2F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DC2626"/>
                </a:solidFill>
              </a:defRPr>
            </a:pPr>
            <a:r>
              <a:rPr sz="1200"/>
              <a:t>Demora: 7 a 20 días hábiles en CSS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1783080"/>
            <a:ext cx="347472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5" name="Rectangle 14"/>
          <p:cNvSpPr/>
          <p:nvPr/>
        </p:nvSpPr>
        <p:spPr>
          <a:xfrm>
            <a:off x="4352544" y="1783080"/>
            <a:ext cx="3474720" cy="4754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sz="1200"/>
              <a:t>Stopper 02: Transcripción Manual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331720"/>
            <a:ext cx="32004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rPr sz="1200"/>
              <a:t>10 a 15 Campos a Mano: </a:t>
            </a:r>
            <a:r>
              <a:rPr sz="1200" b="0">
                <a:solidFill>
                  <a:srgbClr val="0F2240"/>
                </a:solidFill>
              </a:rPr>
              <a:t>El analista debe transcribir manualmente salarios, descuentos, deducciones y razón social desde PDFs no estandarizados.</a:t>
            </a:r>
          </a:p>
          <a:p>
            <a:pPr>
              <a:spcBef>
                <a:spcPts val="600"/>
              </a:spcBef>
              <a:defRPr sz="1000" b="1">
                <a:solidFill>
                  <a:srgbClr val="D97706"/>
                </a:solidFill>
              </a:defRPr>
            </a:pPr>
            <a:r>
              <a:rPr sz="1200"/>
              <a:t>Grilla Densa de Contraloría: </a:t>
            </a:r>
            <a:r>
              <a:rPr sz="1200" b="0">
                <a:solidFill>
                  <a:srgbClr val="0F2240"/>
                </a:solidFill>
              </a:rPr>
              <a:t>Debe buscar 'con lupa' el número de Planilla (ej. 14) y Posición (ej. 101010) en talonarios diminutos.</a:t>
            </a:r>
          </a:p>
          <a:p>
            <a:pPr>
              <a:spcBef>
                <a:spcPts val="600"/>
              </a:spcBef>
              <a:defRPr sz="1000" b="1">
                <a:solidFill>
                  <a:srgbClr val="D97706"/>
                </a:solidFill>
              </a:defRPr>
            </a:pPr>
            <a:r>
              <a:rPr sz="1200"/>
              <a:t>Riesgo de Rechazo en IBS: </a:t>
            </a:r>
            <a:r>
              <a:rPr sz="1200" b="0">
                <a:solidFill>
                  <a:srgbClr val="0F2240"/>
                </a:solidFill>
              </a:rPr>
              <a:t>Cualquier error tipográfico provoca el rechazo automático de los Web Services hacia el Core Bancario IBS en Ultimus.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9704" y="5760719"/>
            <a:ext cx="3200400" cy="411480"/>
          </a:xfrm>
          <a:prstGeom prst="round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D97706"/>
                </a:solidFill>
              </a:defRPr>
            </a:pPr>
            <a:r>
              <a:rPr sz="1200"/>
              <a:t>Riesgo: Errores tipográficos rechazan en IBS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6448" y="1783080"/>
            <a:ext cx="347472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9" name="Rectangle 18"/>
          <p:cNvSpPr/>
          <p:nvPr/>
        </p:nvSpPr>
        <p:spPr>
          <a:xfrm>
            <a:off x="8156448" y="1783080"/>
            <a:ext cx="3474720" cy="475488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sz="1200"/>
              <a:t>Stopper 03: Compra de Saldo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2331720"/>
            <a:ext cx="32004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74594"/>
                </a:solidFill>
              </a:defRPr>
            </a:pPr>
            <a:r>
              <a:rPr sz="1200"/>
              <a:t>Papelería Legal Artesanal: </a:t>
            </a:r>
            <a:r>
              <a:rPr sz="1200" b="0">
                <a:solidFill>
                  <a:srgbClr val="0F2240"/>
                </a:solidFill>
              </a:rPr>
              <a:t>Una gran parte de los préstamos cancela deudas en otros bancos (Banco General, BAC, Banistmo, financieras).</a:t>
            </a:r>
          </a:p>
          <a:p>
            <a:pPr>
              <a:spcBef>
                <a:spcPts val="600"/>
              </a:spcBef>
              <a:defRPr sz="1000" b="1">
                <a:solidFill>
                  <a:srgbClr val="074594"/>
                </a:solidFill>
              </a:defRPr>
            </a:pPr>
            <a:r>
              <a:rPr sz="1200"/>
              <a:t>Cartas de Promesa de Pago: </a:t>
            </a:r>
            <a:r>
              <a:rPr sz="1200" b="0">
                <a:solidFill>
                  <a:srgbClr val="0F2240"/>
                </a:solidFill>
              </a:rPr>
              <a:t>Ultimus no redacta cartas a terceros bancos. El analista abre plantillas Word, busca números de cuenta, saldos y vigencias a mano.</a:t>
            </a:r>
          </a:p>
          <a:p>
            <a:pPr>
              <a:spcBef>
                <a:spcPts val="600"/>
              </a:spcBef>
              <a:defRPr sz="1000" b="1">
                <a:solidFill>
                  <a:srgbClr val="074594"/>
                </a:solidFill>
              </a:defRPr>
            </a:pPr>
            <a:r>
              <a:rPr sz="1200"/>
              <a:t>Consumo de Tiempo Humano: </a:t>
            </a:r>
            <a:r>
              <a:rPr sz="1200" b="0">
                <a:solidFill>
                  <a:srgbClr val="0F2240"/>
                </a:solidFill>
              </a:rPr>
              <a:t>Redactar pagarés, órdenes de descuento y promesas de pago toma entre 20 y 35 minutos por cliente.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760719"/>
            <a:ext cx="3200400" cy="411480"/>
          </a:xfrm>
          <a:prstGeom prst="roundRect">
            <a:avLst/>
          </a:prstGeom>
          <a:solidFill>
            <a:srgbClr val="EEF6FF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74594"/>
                </a:solidFill>
              </a:defRPr>
            </a:pPr>
            <a:r>
              <a:rPr sz="1200"/>
              <a:t>Carga: 20 a 35 min redactando en Word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BAD53468-1F55-2DD3-BD4F-FAC3822936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99"/>
          <a:stretch>
            <a:fillRect/>
          </a:stretch>
        </p:blipFill>
        <p:spPr>
          <a:xfrm>
            <a:off x="7701173" y="210165"/>
            <a:ext cx="2082907" cy="7499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DIAGRAMA DE ARQUITECTURA FUNCIONAL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Los 3 Casos de Uso del Copiloto de Formalización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0F2240"/>
                </a:solidFill>
              </a:defRPr>
            </a:pPr>
            <a:r>
              <a:t>El copiloto acompaña al analista en tres fases continuas, resolviendo cada cuello de botella de manera precisa y medible: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27632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1627632"/>
            <a:ext cx="3474720" cy="5029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CASO 1: SEMÁFORO</a:t>
            </a:r>
          </a:p>
          <a:p>
            <a:pPr algn="ctr">
              <a:defRPr sz="900">
                <a:solidFill>
                  <a:srgbClr val="FFFFFF"/>
                </a:solidFill>
              </a:defRPr>
            </a:pPr>
            <a:r>
              <a:t>Auditoría Inteligente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194560"/>
            <a:ext cx="32004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6A34A"/>
                </a:solidFill>
              </a:defRPr>
            </a:pPr>
            <a:r>
              <a:t>Insumo: </a:t>
            </a:r>
            <a:r>
              <a:rPr sz="850" b="0">
                <a:solidFill>
                  <a:srgbClr val="0F2240"/>
                </a:solidFill>
              </a:rPr>
              <a:t>Expediente digital del cliente (PDFs de cédula, carta y talonario).</a:t>
            </a:r>
          </a:p>
          <a:p>
            <a:pPr>
              <a:spcBef>
                <a:spcPts val="400"/>
              </a:spcBef>
              <a:defRPr sz="900" b="1">
                <a:solidFill>
                  <a:srgbClr val="16A34A"/>
                </a:solidFill>
              </a:defRPr>
            </a:pPr>
            <a:r>
              <a:t>Qué hace la IA: </a:t>
            </a:r>
            <a:r>
              <a:rPr sz="850" b="0">
                <a:solidFill>
                  <a:srgbClr val="0F2240"/>
                </a:solidFill>
              </a:rPr>
              <a:t>Inspecciona identidad cruzada, vigencias (&lt;30 días) y calendarios (no descuento en diciembre).</a:t>
            </a:r>
          </a:p>
          <a:p>
            <a:pPr>
              <a:spcBef>
                <a:spcPts val="400"/>
              </a:spcBef>
              <a:defRPr sz="900" b="1">
                <a:solidFill>
                  <a:srgbClr val="16A34A"/>
                </a:solidFill>
              </a:defRPr>
            </a:pPr>
            <a:r>
              <a:t>Dictamen Semafórico: </a:t>
            </a:r>
            <a:r>
              <a:rPr sz="850" b="0">
                <a:solidFill>
                  <a:srgbClr val="0F2240"/>
                </a:solidFill>
              </a:rPr>
              <a:t>Clasifica en 3 estados normativos:</a:t>
            </a:r>
          </a:p>
          <a:p>
            <a:pPr>
              <a:spcBef>
                <a:spcPts val="400"/>
              </a:spcBef>
              <a:defRPr sz="900" b="1">
                <a:solidFill>
                  <a:srgbClr val="0F2240"/>
                </a:solidFill>
              </a:defRPr>
            </a:pPr>
            <a:r>
              <a:t>• 🟢 Verde (Conforme): </a:t>
            </a:r>
            <a:r>
              <a:rPr sz="850" b="0">
                <a:solidFill>
                  <a:srgbClr val="0F2240"/>
                </a:solidFill>
              </a:rPr>
              <a:t>Expediente consistente y vigente; listo para formalizar.</a:t>
            </a:r>
          </a:p>
          <a:p>
            <a:pPr>
              <a:spcBef>
                <a:spcPts val="400"/>
              </a:spcBef>
              <a:defRPr sz="900" b="1">
                <a:solidFill>
                  <a:srgbClr val="0F2240"/>
                </a:solidFill>
              </a:defRPr>
            </a:pPr>
            <a:r>
              <a:t>• 🟡 Amarillo (Alerta): </a:t>
            </a:r>
            <a:r>
              <a:rPr sz="850" b="0">
                <a:solidFill>
                  <a:srgbClr val="0F2240"/>
                </a:solidFill>
              </a:rPr>
              <a:t>Vencimiento cercano (&lt;48h); firma prioritaria.</a:t>
            </a:r>
          </a:p>
          <a:p>
            <a:pPr>
              <a:spcBef>
                <a:spcPts val="400"/>
              </a:spcBef>
              <a:defRPr sz="900" b="1">
                <a:solidFill>
                  <a:srgbClr val="0F2240"/>
                </a:solidFill>
              </a:defRPr>
            </a:pPr>
            <a:r>
              <a:t>• 🔴 Rojo (Bloqueo): </a:t>
            </a:r>
            <a:r>
              <a:rPr sz="850" b="0">
                <a:solidFill>
                  <a:srgbClr val="0F2240"/>
                </a:solidFill>
              </a:rPr>
              <a:t>Falta certificado CSS de jubilado o cédula inconsistente; devolución inmediata a sucursal.</a:t>
            </a:r>
          </a:p>
          <a:p>
            <a:pPr>
              <a:spcBef>
                <a:spcPts val="400"/>
              </a:spcBef>
              <a:defRPr sz="900" b="1">
                <a:solidFill>
                  <a:srgbClr val="16A34A"/>
                </a:solidFill>
              </a:defRPr>
            </a:pPr>
            <a:r>
              <a:t>Entrega: </a:t>
            </a:r>
            <a:r>
              <a:rPr sz="850" b="0">
                <a:solidFill>
                  <a:srgbClr val="0F2240"/>
                </a:solidFill>
              </a:rPr>
              <a:t>Ficha de Certificación de Calidad CDA.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852160"/>
            <a:ext cx="3200400" cy="41148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6A34A"/>
                </a:solidFill>
              </a:defRPr>
            </a:pPr>
            <a:r>
              <a:t>Semáforo: 🟢 Verde  |  🟡 Amarillo  |  🔴 Rojo</a:t>
            </a:r>
          </a:p>
        </p:txBody>
      </p:sp>
      <p:sp>
        <p:nvSpPr>
          <p:cNvPr id="14" name="Chevron 13"/>
          <p:cNvSpPr/>
          <p:nvPr/>
        </p:nvSpPr>
        <p:spPr>
          <a:xfrm>
            <a:off x="4096512" y="3639312"/>
            <a:ext cx="182880" cy="502920"/>
          </a:xfrm>
          <a:prstGeom prst="chevron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352544" y="1627632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52544" y="1627632"/>
            <a:ext cx="3474720" cy="502920"/>
          </a:xfrm>
          <a:prstGeom prst="rect">
            <a:avLst/>
          </a:prstGeom>
          <a:solidFill>
            <a:srgbClr val="00A4E4"/>
          </a:solidFill>
          <a:ln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CASO 2: SMART CLIPBOARD</a:t>
            </a:r>
          </a:p>
          <a:p>
            <a:pPr algn="ctr">
              <a:defRPr sz="900">
                <a:solidFill>
                  <a:srgbClr val="FFFFFF"/>
                </a:solidFill>
              </a:defRPr>
            </a:pPr>
            <a:r>
              <a:t>Extracción Estructurada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194560"/>
            <a:ext cx="32004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A4E4"/>
                </a:solidFill>
              </a:defRPr>
            </a:pPr>
            <a:r>
              <a:t>Insumo: </a:t>
            </a:r>
            <a:r>
              <a:rPr sz="850" b="0">
                <a:solidFill>
                  <a:srgbClr val="0F2240"/>
                </a:solidFill>
              </a:rPr>
              <a:t>Carta de trabajo y talonario comprobante.</a:t>
            </a:r>
          </a:p>
          <a:p>
            <a:pPr>
              <a:spcBef>
                <a:spcPts val="400"/>
              </a:spcBef>
              <a:defRPr sz="900" b="1">
                <a:solidFill>
                  <a:srgbClr val="00A4E4"/>
                </a:solidFill>
              </a:defRPr>
            </a:pPr>
            <a:r>
              <a:t>Qué hace la IA: </a:t>
            </a:r>
            <a:r>
              <a:rPr sz="850" b="0">
                <a:solidFill>
                  <a:srgbClr val="0F2240"/>
                </a:solidFill>
              </a:rPr>
              <a:t>Lee tablas complejas y ubica con precisión espacial 'PLANILLA' y 'POSICIÓN' de Contraloría.</a:t>
            </a:r>
          </a:p>
          <a:p>
            <a:pPr>
              <a:spcBef>
                <a:spcPts val="400"/>
              </a:spcBef>
              <a:defRPr sz="900" b="1">
                <a:solidFill>
                  <a:srgbClr val="00A4E4"/>
                </a:solidFill>
              </a:defRPr>
            </a:pPr>
            <a:r>
              <a:t>Reconciliación: </a:t>
            </a:r>
            <a:r>
              <a:rPr sz="850" b="0">
                <a:solidFill>
                  <a:srgbClr val="0F2240"/>
                </a:solidFill>
              </a:rPr>
              <a:t>Verifica matemáticamente que Salario Bruto - Descuentos = Salario Neto.</a:t>
            </a:r>
          </a:p>
          <a:p>
            <a:pPr>
              <a:spcBef>
                <a:spcPts val="400"/>
              </a:spcBef>
              <a:defRPr sz="900" b="1">
                <a:solidFill>
                  <a:srgbClr val="00A4E4"/>
                </a:solidFill>
              </a:defRPr>
            </a:pPr>
            <a:r>
              <a:t>Interacción Humana: </a:t>
            </a:r>
            <a:r>
              <a:rPr sz="850" b="0">
                <a:solidFill>
                  <a:srgbClr val="0F2240"/>
                </a:solidFill>
              </a:rPr>
              <a:t>Panel con botón 'Copiar' (1 clic). El analista copia y pega (Ctrl+V) en Ultimus BPM en pantalla dividida.</a:t>
            </a:r>
          </a:p>
          <a:p>
            <a:pPr>
              <a:spcBef>
                <a:spcPts val="400"/>
              </a:spcBef>
              <a:defRPr sz="900" b="1">
                <a:solidFill>
                  <a:srgbClr val="00A4E4"/>
                </a:solidFill>
              </a:defRPr>
            </a:pPr>
            <a:r>
              <a:t>Impacto: </a:t>
            </a:r>
            <a:r>
              <a:rPr sz="850" b="0">
                <a:solidFill>
                  <a:srgbClr val="0F2240"/>
                </a:solidFill>
              </a:rPr>
              <a:t>De 10 min a 40 segundos, con 0% error.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9704" y="5852160"/>
            <a:ext cx="3200400" cy="411480"/>
          </a:xfrm>
          <a:prstGeom prst="roundRect">
            <a:avLst/>
          </a:prstGeom>
          <a:solidFill>
            <a:srgbClr val="EEF6FF"/>
          </a:solidFill>
          <a:ln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A4E4"/>
                </a:solidFill>
              </a:defRPr>
            </a:pPr>
            <a:r>
              <a:t>Smart Clipboard: De 10 min a 40 seg | Cero error</a:t>
            </a:r>
          </a:p>
        </p:txBody>
      </p:sp>
      <p:sp>
        <p:nvSpPr>
          <p:cNvPr id="19" name="Chevron 18"/>
          <p:cNvSpPr/>
          <p:nvPr/>
        </p:nvSpPr>
        <p:spPr>
          <a:xfrm>
            <a:off x="7900416" y="3639312"/>
            <a:ext cx="182880" cy="502920"/>
          </a:xfrm>
          <a:prstGeom prst="chevron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156448" y="1627632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56448" y="1627632"/>
            <a:ext cx="3474720" cy="50292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CASO 3: ENSAMBLADOR</a:t>
            </a:r>
          </a:p>
          <a:p>
            <a:pPr algn="ctr">
              <a:defRPr sz="900">
                <a:solidFill>
                  <a:srgbClr val="FFFFFF"/>
                </a:solidFill>
              </a:defRPr>
            </a:pPr>
            <a:r>
              <a:t>Confección Contractual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194560"/>
            <a:ext cx="32004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74594"/>
                </a:solidFill>
              </a:defRPr>
            </a:pPr>
            <a:r>
              <a:t>Insumo: </a:t>
            </a:r>
            <a:r>
              <a:rPr sz="850" b="0">
                <a:solidFill>
                  <a:srgbClr val="0F2240"/>
                </a:solidFill>
              </a:rPr>
              <a:t>Cartas de saldo externas (BG, BAC, Banistmo) y condiciones aprobadas CDA.</a:t>
            </a:r>
          </a:p>
          <a:p>
            <a:pPr>
              <a:spcBef>
                <a:spcPts val="400"/>
              </a:spcBef>
              <a:defRPr sz="900" b="1">
                <a:solidFill>
                  <a:srgbClr val="074594"/>
                </a:solidFill>
              </a:defRPr>
            </a:pPr>
            <a:r>
              <a:t>Qué hace la IA: </a:t>
            </a:r>
            <a:r>
              <a:rPr sz="850" b="0">
                <a:solidFill>
                  <a:srgbClr val="0F2240"/>
                </a:solidFill>
              </a:rPr>
              <a:t>Extrae banco acreedor, cuenta/tarjeta a pagar, saldo exacto y fecha límite de vigencia.</a:t>
            </a:r>
          </a:p>
          <a:p>
            <a:pPr>
              <a:spcBef>
                <a:spcPts val="400"/>
              </a:spcBef>
              <a:defRPr sz="900" b="1">
                <a:solidFill>
                  <a:srgbClr val="074594"/>
                </a:solidFill>
              </a:defRPr>
            </a:pPr>
            <a:r>
              <a:t>Templating Legal: </a:t>
            </a:r>
            <a:r>
              <a:rPr sz="850" b="0">
                <a:solidFill>
                  <a:srgbClr val="0F2240"/>
                </a:solidFill>
              </a:rPr>
              <a:t>Inyecta los datos sobre plantillas oficiales .docx de Caja de Ahorros.</a:t>
            </a:r>
          </a:p>
          <a:p>
            <a:pPr>
              <a:spcBef>
                <a:spcPts val="400"/>
              </a:spcBef>
              <a:defRPr sz="900" b="1">
                <a:solidFill>
                  <a:srgbClr val="074594"/>
                </a:solidFill>
              </a:defRPr>
            </a:pPr>
            <a:r>
              <a:t>Entrega: </a:t>
            </a:r>
            <a:r>
              <a:rPr sz="850" b="0">
                <a:solidFill>
                  <a:srgbClr val="0F2240"/>
                </a:solidFill>
              </a:rPr>
              <a:t>Paquete Contractual Completo (.docx y .pdf) listo para firma (Promesas de pago, pagaré notarial, órdenes de descuento).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5852160"/>
            <a:ext cx="3200400" cy="411480"/>
          </a:xfrm>
          <a:prstGeom prst="roundRect">
            <a:avLst/>
          </a:prstGeom>
          <a:solidFill>
            <a:srgbClr val="EEF6FF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74594"/>
                </a:solidFill>
              </a:defRPr>
            </a:pPr>
            <a:r>
              <a:t>Contratos: De 30 min a 15 seg en .docx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43AD4DFB-FA42-1F77-690A-9328D34462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99"/>
          <a:stretch>
            <a:fillRect/>
          </a:stretch>
        </p:blipFill>
        <p:spPr>
          <a:xfrm>
            <a:off x="7701173" y="210165"/>
            <a:ext cx="2082907" cy="7499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MÉTRICAS DE EFICIENCIA OPERATIVA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Impacto Cuantitativo: Proceso Tradicional vs. Asistente IA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623523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0F2240"/>
                </a:solidFill>
              </a:defRPr>
            </a:pPr>
            <a:r>
              <a:rPr sz="1200" dirty="0" err="1"/>
              <a:t>Comparativa</a:t>
            </a:r>
            <a:r>
              <a:rPr sz="1200" dirty="0"/>
              <a:t> </a:t>
            </a:r>
            <a:r>
              <a:rPr sz="1200" dirty="0" err="1"/>
              <a:t>directa</a:t>
            </a:r>
            <a:r>
              <a:rPr sz="1200" dirty="0"/>
              <a:t> de </a:t>
            </a:r>
            <a:r>
              <a:rPr sz="1200" dirty="0" err="1"/>
              <a:t>tiempos</a:t>
            </a:r>
            <a:r>
              <a:rPr sz="1200" dirty="0"/>
              <a:t> y </a:t>
            </a:r>
            <a:r>
              <a:rPr sz="1200" dirty="0" err="1"/>
              <a:t>calidad</a:t>
            </a:r>
            <a:r>
              <a:rPr sz="1200" dirty="0"/>
              <a:t> </a:t>
            </a:r>
            <a:r>
              <a:rPr sz="1200" dirty="0" err="1"/>
              <a:t>operativa</a:t>
            </a:r>
            <a:r>
              <a:rPr sz="1200" dirty="0"/>
              <a:t> </a:t>
            </a:r>
            <a:r>
              <a:rPr sz="1200" dirty="0" err="1"/>
              <a:t>en</a:t>
            </a:r>
            <a:r>
              <a:rPr sz="1200" dirty="0"/>
              <a:t> la </a:t>
            </a:r>
            <a:r>
              <a:rPr sz="1200" dirty="0" err="1"/>
              <a:t>formalización</a:t>
            </a:r>
            <a:r>
              <a:rPr sz="1200" dirty="0"/>
              <a:t> de </a:t>
            </a:r>
            <a:r>
              <a:rPr sz="1200" dirty="0" err="1"/>
              <a:t>préstamos</a:t>
            </a:r>
            <a:r>
              <a:rPr sz="1200" dirty="0"/>
              <a:t> </a:t>
            </a:r>
            <a:r>
              <a:rPr sz="1200" dirty="0" err="1"/>
              <a:t>personales</a:t>
            </a:r>
            <a:r>
              <a:rPr sz="1200" dirty="0"/>
              <a:t>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646367"/>
              </p:ext>
            </p:extLst>
          </p:nvPr>
        </p:nvGraphicFramePr>
        <p:xfrm>
          <a:off x="548640" y="1572768"/>
          <a:ext cx="1109441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4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96112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Fase Operativa</a:t>
                      </a:r>
                    </a:p>
                  </a:txBody>
                  <a:tcPr>
                    <a:solidFill>
                      <a:srgbClr val="07459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Proceso Tradicional (Manual)</a:t>
                      </a:r>
                    </a:p>
                  </a:txBody>
                  <a:tcPr>
                    <a:solidFill>
                      <a:srgbClr val="07459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Con Asistente Inteligente (IA)</a:t>
                      </a:r>
                    </a:p>
                  </a:txBody>
                  <a:tcPr>
                    <a:solidFill>
                      <a:srgbClr val="07459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Ganancia Neta para el Negocio</a:t>
                      </a:r>
                    </a:p>
                  </a:txBody>
                  <a:tcPr>
                    <a:solidFill>
                      <a:srgbClr val="0745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0F2240"/>
                          </a:solidFill>
                        </a:defRPr>
                      </a:pPr>
                      <a:r>
                        <a:rPr sz="1200"/>
                        <a:t>1. Auditoría del Expediente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AA1E1E"/>
                          </a:solidFill>
                        </a:defRPr>
                      </a:pPr>
                      <a:r>
                        <a:rPr sz="1200"/>
                        <a:t>20 min por cliente.</a:t>
                      </a:r>
                    </a:p>
                    <a:p>
                      <a:r>
                        <a:rPr sz="1200"/>
                        <a:t>Revisión manual de cada PDF; expedientes trabados semanas por falta de soporte de CSS.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0F732D"/>
                          </a:solidFill>
                        </a:defRPr>
                      </a:pPr>
                      <a:r>
                        <a:rPr sz="1200"/>
                        <a:t>5 a 10 segundos.</a:t>
                      </a:r>
                    </a:p>
                    <a:p>
                      <a:r>
                        <a:rPr sz="1200"/>
                        <a:t>Semáforo automático; detección preventiva de jubilados sin soporte.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F2240"/>
                          </a:solidFill>
                        </a:defRPr>
                      </a:pPr>
                      <a:r>
                        <a:rPr sz="1200"/>
                        <a:t>Ahorro &gt;95% en revisión.</a:t>
                      </a:r>
                    </a:p>
                    <a:p>
                      <a:r>
                        <a:rPr sz="1200"/>
                        <a:t>Cero expedientes estancados.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0F2240"/>
                          </a:solidFill>
                        </a:defRPr>
                      </a:pPr>
                      <a:r>
                        <a:rPr sz="1200"/>
                        <a:t>2. Carga de Datos en Ultimus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AA1E1E"/>
                          </a:solidFill>
                        </a:defRPr>
                      </a:pPr>
                      <a:r>
                        <a:rPr sz="1200" dirty="0"/>
                        <a:t>10 min </a:t>
                      </a:r>
                      <a:r>
                        <a:rPr sz="1200" dirty="0" err="1"/>
                        <a:t>tipeando</a:t>
                      </a:r>
                      <a:r>
                        <a:rPr sz="1200" dirty="0"/>
                        <a:t> a mano.</a:t>
                      </a:r>
                    </a:p>
                    <a:p>
                      <a:r>
                        <a:rPr sz="1200" dirty="0" err="1"/>
                        <a:t>Búsqueda</a:t>
                      </a:r>
                      <a:r>
                        <a:rPr sz="1200" dirty="0"/>
                        <a:t> con </a:t>
                      </a:r>
                      <a:r>
                        <a:rPr sz="1200" dirty="0" err="1"/>
                        <a:t>lupa</a:t>
                      </a:r>
                      <a:r>
                        <a:rPr sz="1200" dirty="0"/>
                        <a:t> de </a:t>
                      </a:r>
                      <a:r>
                        <a:rPr sz="1200" dirty="0" err="1"/>
                        <a:t>Planilla</a:t>
                      </a:r>
                      <a:r>
                        <a:rPr sz="1200" dirty="0"/>
                        <a:t> y </a:t>
                      </a:r>
                      <a:r>
                        <a:rPr sz="1200" dirty="0" err="1"/>
                        <a:t>Posición</a:t>
                      </a:r>
                      <a:r>
                        <a:rPr sz="1200" dirty="0"/>
                        <a:t>; </a:t>
                      </a:r>
                      <a:r>
                        <a:rPr sz="1200" dirty="0" err="1"/>
                        <a:t>errores</a:t>
                      </a:r>
                      <a:r>
                        <a:rPr sz="1200" dirty="0"/>
                        <a:t> </a:t>
                      </a:r>
                      <a:r>
                        <a:rPr sz="1200" dirty="0" err="1"/>
                        <a:t>tipográficos</a:t>
                      </a:r>
                      <a:r>
                        <a:rPr sz="1200" dirty="0"/>
                        <a:t> </a:t>
                      </a:r>
                      <a:r>
                        <a:rPr sz="1200" dirty="0" err="1"/>
                        <a:t>hacia</a:t>
                      </a:r>
                      <a:r>
                        <a:rPr sz="1200" dirty="0"/>
                        <a:t> Core IBS.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0F732D"/>
                          </a:solidFill>
                        </a:defRPr>
                      </a:pPr>
                      <a:r>
                        <a:rPr sz="1200"/>
                        <a:t>30 a 50 segundos.</a:t>
                      </a:r>
                    </a:p>
                    <a:p>
                      <a:r>
                        <a:rPr sz="1200"/>
                        <a:t>Smart Clipboard con copiado en 1 clic y datos normalizados.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F2240"/>
                          </a:solidFill>
                        </a:defRPr>
                      </a:pPr>
                      <a:r>
                        <a:rPr sz="1200"/>
                        <a:t>Reducción del 90% en digitación.</a:t>
                      </a:r>
                    </a:p>
                    <a:p>
                      <a:r>
                        <a:rPr sz="1200"/>
                        <a:t>Cero rechazos en Core IBS.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0F2240"/>
                          </a:solidFill>
                        </a:defRPr>
                      </a:pPr>
                      <a:r>
                        <a:rPr sz="1200"/>
                        <a:t>3. Confección de Compra de Saldo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AA1E1E"/>
                          </a:solidFill>
                        </a:defRPr>
                      </a:pPr>
                      <a:r>
                        <a:rPr sz="1200"/>
                        <a:t>20 a 35 min redactando.</a:t>
                      </a:r>
                    </a:p>
                    <a:p>
                      <a:r>
                        <a:rPr sz="1200"/>
                        <a:t>Redacción manual de cartas a otros bancos, pagarés y órdenes de descuento.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0F732D"/>
                          </a:solidFill>
                        </a:defRPr>
                      </a:pPr>
                      <a:r>
                        <a:rPr sz="1200"/>
                        <a:t>15 segundos.</a:t>
                      </a:r>
                    </a:p>
                    <a:p>
                      <a:r>
                        <a:rPr sz="1200"/>
                        <a:t>Generación instantánea del paquete (.docx y .pdf) listo para firma.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F2240"/>
                          </a:solidFill>
                        </a:defRPr>
                      </a:pPr>
                      <a:r>
                        <a:rPr sz="1200"/>
                        <a:t>Ahorro de 30 min por cliente.</a:t>
                      </a:r>
                    </a:p>
                    <a:p>
                      <a:r>
                        <a:rPr sz="1200"/>
                        <a:t>Exactitud contable y legal.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6A34A"/>
                          </a:solidFill>
                        </a:defRPr>
                      </a:pPr>
                      <a:r>
                        <a:rPr sz="1200"/>
                        <a:t>RESUMEN TOTAL POR EXPEDIENTE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6A34A"/>
                          </a:solidFill>
                        </a:defRPr>
                      </a:pPr>
                      <a:r>
                        <a:rPr sz="1200"/>
                        <a:t>~60 minutos por crédito.</a:t>
                      </a:r>
                    </a:p>
                    <a:p>
                      <a:r>
                        <a:rPr sz="1200"/>
                        <a:t>Riesgo de error humano y demora en firma.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6A34A"/>
                          </a:solidFill>
                        </a:defRPr>
                      </a:pPr>
                      <a:r>
                        <a:rPr sz="1200"/>
                        <a:t>Menos de 2 minutos.</a:t>
                      </a:r>
                    </a:p>
                    <a:p>
                      <a:r>
                        <a:rPr sz="1200"/>
                        <a:t>Analista enfocado en control y servicio al cliente.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6A34A"/>
                          </a:solidFill>
                        </a:defRPr>
                      </a:pPr>
                      <a:r>
                        <a:rPr sz="1200" dirty="0" err="1"/>
                        <a:t>Aceleración</a:t>
                      </a:r>
                      <a:r>
                        <a:rPr sz="1200" dirty="0"/>
                        <a:t> de 30x.</a:t>
                      </a:r>
                    </a:p>
                    <a:p>
                      <a:r>
                        <a:rPr sz="1200" dirty="0"/>
                        <a:t>Mayor </a:t>
                      </a:r>
                      <a:r>
                        <a:rPr sz="1200" dirty="0" err="1"/>
                        <a:t>colocación</a:t>
                      </a:r>
                      <a:r>
                        <a:rPr sz="1200" dirty="0"/>
                        <a:t> de </a:t>
                      </a:r>
                      <a:r>
                        <a:rPr sz="1200" dirty="0" err="1"/>
                        <a:t>cartera</a:t>
                      </a:r>
                      <a:r>
                        <a:rPr sz="1200" dirty="0"/>
                        <a:t>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Imagen 11">
            <a:extLst>
              <a:ext uri="{FF2B5EF4-FFF2-40B4-BE49-F238E27FC236}">
                <a16:creationId xmlns:a16="http://schemas.microsoft.com/office/drawing/2014/main" id="{D3CF8508-BC67-80DE-81B0-3350C227CC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99"/>
          <a:stretch>
            <a:fillRect/>
          </a:stretch>
        </p:blipFill>
        <p:spPr>
          <a:xfrm>
            <a:off x="7701173" y="210165"/>
            <a:ext cx="2082907" cy="7499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HOJA DE RUTA ESTRATÉGICA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Conclusión y Ruta de Implementación para el Negocio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577138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F2240"/>
                </a:solidFill>
              </a:defRPr>
            </a:pPr>
            <a:r>
              <a:rPr sz="1200"/>
              <a:t>Plan de acción ágil para validar y desplegar el valor de ambos agentes en Caja de Ahorros: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53035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5303520" cy="411480"/>
          </a:xfrm>
          <a:prstGeom prst="rect">
            <a:avLst/>
          </a:prstGeom>
          <a:solidFill>
            <a:srgbClr val="00A4E4"/>
          </a:solidFill>
          <a:ln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rPr sz="1200"/>
              <a:t>Hito 1: Demostración Interactiva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49377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Presentar</a:t>
            </a:r>
            <a:r>
              <a:rPr sz="1200" dirty="0"/>
              <a:t> el </a:t>
            </a:r>
            <a:r>
              <a:rPr lang="es-PA" sz="1200" dirty="0"/>
              <a:t>MVP</a:t>
            </a:r>
            <a:r>
              <a:rPr sz="1200" dirty="0"/>
              <a:t> </a:t>
            </a:r>
            <a:r>
              <a:rPr sz="1200" dirty="0" err="1"/>
              <a:t>funcional</a:t>
            </a:r>
            <a:r>
              <a:rPr sz="1200" dirty="0"/>
              <a:t> 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rPr sz="1200" dirty="0"/>
              <a:t>• Validar </a:t>
            </a:r>
            <a:r>
              <a:rPr sz="1200" dirty="0" err="1"/>
              <a:t>parámetros</a:t>
            </a:r>
            <a:r>
              <a:rPr sz="1200" dirty="0"/>
              <a:t> de </a:t>
            </a:r>
            <a:r>
              <a:rPr sz="1200" dirty="0" err="1"/>
              <a:t>tasas</a:t>
            </a:r>
            <a:r>
              <a:rPr sz="1200" dirty="0"/>
              <a:t> de feria y </a:t>
            </a:r>
            <a:r>
              <a:rPr sz="1200" dirty="0" err="1"/>
              <a:t>marcas</a:t>
            </a:r>
            <a:r>
              <a:rPr sz="1200" dirty="0"/>
              <a:t> </a:t>
            </a:r>
            <a:r>
              <a:rPr sz="1200" dirty="0" err="1"/>
              <a:t>destacadas</a:t>
            </a:r>
            <a:r>
              <a:rPr sz="1200" dirty="0"/>
              <a:t>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Duración</a:t>
            </a:r>
            <a:r>
              <a:rPr sz="1200" dirty="0"/>
              <a:t> </a:t>
            </a:r>
            <a:r>
              <a:rPr sz="1200" dirty="0" err="1"/>
              <a:t>estimada</a:t>
            </a:r>
            <a:r>
              <a:rPr sz="1200" dirty="0"/>
              <a:t>: </a:t>
            </a:r>
            <a:r>
              <a:rPr sz="1200" dirty="0" err="1"/>
              <a:t>Sesión</a:t>
            </a:r>
            <a:r>
              <a:rPr sz="1200" dirty="0"/>
              <a:t> </a:t>
            </a:r>
            <a:r>
              <a:rPr sz="1200" dirty="0" err="1"/>
              <a:t>ejecutiva</a:t>
            </a:r>
            <a:r>
              <a:rPr sz="1200" dirty="0"/>
              <a:t> de 45 </a:t>
            </a:r>
            <a:r>
              <a:rPr sz="1200" dirty="0" err="1"/>
              <a:t>minutos</a:t>
            </a:r>
            <a:r>
              <a:rPr sz="1200" dirty="0"/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53035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4" name="Rectangle 13"/>
          <p:cNvSpPr/>
          <p:nvPr/>
        </p:nvSpPr>
        <p:spPr>
          <a:xfrm>
            <a:off x="6217920" y="1737360"/>
            <a:ext cx="5303520" cy="41148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rPr sz="1200"/>
              <a:t>Hito 2: Piloto de Formalización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240280"/>
            <a:ext cx="493776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Probar</a:t>
            </a:r>
            <a:r>
              <a:rPr sz="1200" dirty="0"/>
              <a:t> el Smart Clipboard y </a:t>
            </a:r>
            <a:r>
              <a:rPr sz="1200" dirty="0" err="1"/>
              <a:t>Semáforo</a:t>
            </a:r>
            <a:r>
              <a:rPr sz="1200" dirty="0"/>
              <a:t> con </a:t>
            </a:r>
            <a:r>
              <a:rPr sz="1200" dirty="0" err="1"/>
              <a:t>analistas</a:t>
            </a:r>
            <a:r>
              <a:rPr sz="1200" dirty="0"/>
              <a:t> de </a:t>
            </a:r>
            <a:r>
              <a:rPr sz="1200" dirty="0" err="1"/>
              <a:t>formalización</a:t>
            </a:r>
            <a:r>
              <a:rPr sz="1200" dirty="0"/>
              <a:t> </a:t>
            </a:r>
            <a:r>
              <a:rPr sz="1200" dirty="0" err="1"/>
              <a:t>durante</a:t>
            </a:r>
            <a:r>
              <a:rPr sz="1200" dirty="0"/>
              <a:t>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Medir</a:t>
            </a:r>
            <a:r>
              <a:rPr sz="1200" dirty="0"/>
              <a:t> </a:t>
            </a:r>
            <a:r>
              <a:rPr sz="1200" dirty="0" err="1"/>
              <a:t>reducción</a:t>
            </a:r>
            <a:r>
              <a:rPr sz="1200" dirty="0"/>
              <a:t> real de </a:t>
            </a:r>
            <a:r>
              <a:rPr sz="1200" dirty="0" err="1"/>
              <a:t>tiempos</a:t>
            </a:r>
            <a:r>
              <a:rPr sz="1200" dirty="0"/>
              <a:t> de </a:t>
            </a:r>
            <a:r>
              <a:rPr sz="1200" dirty="0" err="1"/>
              <a:t>transcripción</a:t>
            </a:r>
            <a:r>
              <a:rPr sz="1200" dirty="0"/>
              <a:t>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Ajustar</a:t>
            </a:r>
            <a:r>
              <a:rPr sz="1200" dirty="0"/>
              <a:t> </a:t>
            </a:r>
            <a:r>
              <a:rPr sz="1200" dirty="0" err="1"/>
              <a:t>plantillas</a:t>
            </a:r>
            <a:r>
              <a:rPr sz="1200" dirty="0"/>
              <a:t> de cartas de </a:t>
            </a:r>
            <a:r>
              <a:rPr sz="1200" dirty="0" err="1"/>
              <a:t>compra</a:t>
            </a:r>
            <a:r>
              <a:rPr sz="1200" dirty="0"/>
              <a:t> de </a:t>
            </a:r>
            <a:r>
              <a:rPr sz="1200" dirty="0" err="1"/>
              <a:t>saldo</a:t>
            </a:r>
            <a:r>
              <a:rPr sz="1200" dirty="0"/>
              <a:t> </a:t>
            </a:r>
            <a:r>
              <a:rPr sz="1200" dirty="0" err="1"/>
              <a:t>oficiales</a:t>
            </a:r>
            <a:r>
              <a:rPr sz="1200" dirty="0"/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53035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7" name="Rectangle 16"/>
          <p:cNvSpPr/>
          <p:nvPr/>
        </p:nvSpPr>
        <p:spPr>
          <a:xfrm>
            <a:off x="548640" y="4069080"/>
            <a:ext cx="5303520" cy="41148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rPr sz="1200"/>
              <a:t>Hito 3: Despliegue en Stand de Feria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49377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Instalar</a:t>
            </a:r>
            <a:r>
              <a:rPr sz="1200" dirty="0"/>
              <a:t> el </a:t>
            </a:r>
            <a:r>
              <a:rPr sz="1200" dirty="0" err="1"/>
              <a:t>Asesor</a:t>
            </a:r>
            <a:r>
              <a:rPr sz="1200" dirty="0"/>
              <a:t> </a:t>
            </a:r>
            <a:r>
              <a:rPr lang="es-PA" sz="1200" dirty="0"/>
              <a:t>para</a:t>
            </a:r>
            <a:r>
              <a:rPr sz="1200" dirty="0"/>
              <a:t> la </a:t>
            </a:r>
            <a:r>
              <a:rPr sz="1200" dirty="0" err="1"/>
              <a:t>siguiente</a:t>
            </a:r>
            <a:r>
              <a:rPr sz="1200" dirty="0"/>
              <a:t> feria </a:t>
            </a:r>
            <a:r>
              <a:rPr sz="1200" dirty="0" err="1"/>
              <a:t>automotriz</a:t>
            </a:r>
            <a:r>
              <a:rPr sz="1200" dirty="0"/>
              <a:t>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Capturar</a:t>
            </a:r>
            <a:r>
              <a:rPr sz="1200" dirty="0"/>
              <a:t> leads </a:t>
            </a:r>
            <a:r>
              <a:rPr sz="1200" dirty="0" err="1"/>
              <a:t>en</a:t>
            </a:r>
            <a:r>
              <a:rPr sz="1200" dirty="0"/>
              <a:t> vivo y </a:t>
            </a:r>
            <a:r>
              <a:rPr sz="1200" dirty="0" err="1"/>
              <a:t>derivar</a:t>
            </a:r>
            <a:r>
              <a:rPr sz="1200" dirty="0"/>
              <a:t> a </a:t>
            </a:r>
            <a:r>
              <a:rPr sz="1200" dirty="0" err="1"/>
              <a:t>ejecutivos</a:t>
            </a:r>
            <a:r>
              <a:rPr sz="1200" dirty="0"/>
              <a:t> del stand.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Medir</a:t>
            </a:r>
            <a:r>
              <a:rPr sz="1200" dirty="0"/>
              <a:t> </a:t>
            </a:r>
            <a:r>
              <a:rPr sz="1200" dirty="0" err="1"/>
              <a:t>clientes</a:t>
            </a:r>
            <a:r>
              <a:rPr sz="1200" dirty="0"/>
              <a:t> </a:t>
            </a:r>
            <a:r>
              <a:rPr sz="1200" dirty="0" err="1"/>
              <a:t>atendidos</a:t>
            </a:r>
            <a:r>
              <a:rPr sz="1200" dirty="0"/>
              <a:t> vs. ferias </a:t>
            </a:r>
            <a:r>
              <a:rPr sz="1200" dirty="0" err="1"/>
              <a:t>anteriores</a:t>
            </a:r>
            <a:r>
              <a:rPr sz="1200" dirty="0"/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069080"/>
            <a:ext cx="53035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20" name="Rectangle 19"/>
          <p:cNvSpPr/>
          <p:nvPr/>
        </p:nvSpPr>
        <p:spPr>
          <a:xfrm>
            <a:off x="6217920" y="4069080"/>
            <a:ext cx="5303520" cy="4114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rPr sz="1200"/>
              <a:t>Hito 4: Medición de ROI y Escalamiento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572000"/>
            <a:ext cx="493776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2240"/>
                </a:solidFill>
              </a:defRPr>
            </a:pPr>
            <a:r>
              <a:rPr sz="1200"/>
              <a:t>• Presentar informe de resultados a la Vicepresidencia con métricas de tiempos y conversión.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rPr sz="1200"/>
              <a:t>• Definir roadmap para extender a préstamos hipotecarios.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rPr sz="1200"/>
              <a:t>• Consolidar la Célula de Innovación como motor ágil del banco.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83DD6D2C-076B-61CE-9832-034226EFF1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99"/>
          <a:stretch>
            <a:fillRect/>
          </a:stretch>
        </p:blipFill>
        <p:spPr>
          <a:xfrm>
            <a:off x="7701173" y="210165"/>
            <a:ext cx="2082907" cy="7499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074594"/>
          </a:solidFill>
          <a:ln w="25400"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3337" y="1371600"/>
            <a:ext cx="3566160" cy="17402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926080"/>
            <a:ext cx="9448495" cy="142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rPr dirty="0" err="1"/>
              <a:t>Transformando</a:t>
            </a:r>
            <a:r>
              <a:rPr dirty="0"/>
              <a:t> la </a:t>
            </a:r>
            <a:r>
              <a:rPr dirty="0" err="1"/>
              <a:t>Experiencia</a:t>
            </a:r>
            <a:r>
              <a:rPr dirty="0"/>
              <a:t> del </a:t>
            </a:r>
            <a:r>
              <a:rPr dirty="0" err="1"/>
              <a:t>Cliente</a:t>
            </a:r>
            <a:r>
              <a:rPr dirty="0"/>
              <a:t> y la </a:t>
            </a:r>
            <a:r>
              <a:rPr dirty="0" err="1"/>
              <a:t>Eficiencia</a:t>
            </a:r>
            <a:r>
              <a:rPr dirty="0"/>
              <a:t> </a:t>
            </a:r>
            <a:r>
              <a:rPr dirty="0" err="1"/>
              <a:t>Operativa</a:t>
            </a:r>
            <a:r>
              <a:rPr dirty="0"/>
              <a:t> con </a:t>
            </a:r>
            <a:r>
              <a:rPr dirty="0" err="1"/>
              <a:t>Inteligencia</a:t>
            </a:r>
            <a:r>
              <a:rPr dirty="0"/>
              <a:t> Artificial</a:t>
            </a:r>
          </a:p>
          <a:p>
            <a:pPr algn="ctr">
              <a:spcBef>
                <a:spcPts val="1200"/>
              </a:spcBef>
              <a:defRPr sz="1400">
                <a:solidFill>
                  <a:srgbClr val="00A4E4"/>
                </a:solidFill>
              </a:defRPr>
            </a:pPr>
            <a:r>
              <a:rPr dirty="0"/>
              <a:t>Caja de Ahorros de Panamá  •  </a:t>
            </a:r>
            <a:r>
              <a:rPr dirty="0" err="1"/>
              <a:t>Célula</a:t>
            </a:r>
            <a:r>
              <a:rPr dirty="0"/>
              <a:t> de </a:t>
            </a:r>
            <a:r>
              <a:rPr dirty="0" err="1"/>
              <a:t>Innovación</a:t>
            </a:r>
            <a:r>
              <a:rPr dirty="0"/>
              <a:t> (</a:t>
            </a:r>
            <a:r>
              <a:rPr dirty="0" err="1"/>
              <a:t>StraTech</a:t>
            </a:r>
            <a:r>
              <a:rPr dirty="0"/>
              <a:t> / CDA)</a:t>
            </a:r>
          </a:p>
          <a:p>
            <a:pPr algn="ctr">
              <a:spcBef>
                <a:spcPts val="800"/>
              </a:spcBef>
              <a:defRPr sz="1200">
                <a:solidFill>
                  <a:srgbClr val="BEDCFF"/>
                </a:solidFill>
              </a:defRPr>
            </a:pPr>
            <a:r>
              <a:rPr lang="es-ES" dirty="0"/>
              <a:t>AI + </a:t>
            </a:r>
            <a:r>
              <a:rPr lang="es-ES" dirty="0" err="1"/>
              <a:t>Financial</a:t>
            </a:r>
            <a:r>
              <a:rPr lang="es-ES" dirty="0"/>
              <a:t> Risk </a:t>
            </a:r>
            <a:r>
              <a:rPr lang="es-ES" dirty="0" err="1"/>
              <a:t>Specialist</a:t>
            </a:r>
            <a:r>
              <a:rPr lang="es-ES" dirty="0"/>
              <a:t> </a:t>
            </a:r>
            <a:r>
              <a:rPr dirty="0"/>
              <a:t>: Rodolfo Blasser 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1A1706E-D09A-D5A0-271A-A3BFEA277A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99"/>
          <a:stretch>
            <a:fillRect/>
          </a:stretch>
        </p:blipFill>
        <p:spPr>
          <a:xfrm>
            <a:off x="3608145" y="1866731"/>
            <a:ext cx="2082907" cy="7499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PRODUCTO 02 — PARADIGMA TECNOLÓGICO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Arquitectura Desacoplada: Cero Riesgo Tecnológico e Inmediatez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2240"/>
                </a:solidFill>
              </a:defRPr>
            </a:pPr>
            <a:r>
              <a:t>¿Cómo implementamos IA en formalización sin esperar meses por aprobaciones de seguridad, APIs de Ultimus ni accesos al Core IBS? Mediante el paradigma Sidecar Copilot (Asistente Desacoplado):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530352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5303520" cy="411480"/>
          </a:xfrm>
          <a:prstGeom prst="rect">
            <a:avLst/>
          </a:prstGeom>
          <a:solidFill>
            <a:srgbClr val="EEF6FF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4594"/>
                </a:solidFill>
              </a:defRPr>
            </a:pPr>
            <a:r>
              <a:rPr sz="1200"/>
              <a:t>Cero Acceso a Ultimus BPM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240"/>
                </a:solidFill>
              </a:defRPr>
            </a:pPr>
            <a:r>
              <a:rPr sz="1200"/>
              <a:t>No requiere licencias de desarrollo, RPA invasivos ni APIs propietarias de Ultimus. El sistema no toca el BPM directamente.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83080"/>
            <a:ext cx="530352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4" name="Rectangle 13"/>
          <p:cNvSpPr/>
          <p:nvPr/>
        </p:nvSpPr>
        <p:spPr>
          <a:xfrm>
            <a:off x="6217920" y="1783080"/>
            <a:ext cx="5303520" cy="411480"/>
          </a:xfrm>
          <a:prstGeom prst="rect">
            <a:avLst/>
          </a:prstGeom>
          <a:solidFill>
            <a:srgbClr val="EEF6FF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4594"/>
                </a:solidFill>
              </a:defRPr>
            </a:pPr>
            <a:r>
              <a:rPr sz="1200"/>
              <a:t>Cero Conexión al Core IBS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286000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240"/>
                </a:solidFill>
              </a:defRPr>
            </a:pPr>
            <a:r>
              <a:rPr sz="1200"/>
              <a:t>Elimina cualquier riesgo de corrupción de datos transaccionales bancarios. El analista mantiene la custodia de la transacción final.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86200"/>
            <a:ext cx="530352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7" name="Rectangle 16"/>
          <p:cNvSpPr/>
          <p:nvPr/>
        </p:nvSpPr>
        <p:spPr>
          <a:xfrm>
            <a:off x="548640" y="3886200"/>
            <a:ext cx="5303520" cy="411480"/>
          </a:xfrm>
          <a:prstGeom prst="rect">
            <a:avLst/>
          </a:prstGeom>
          <a:solidFill>
            <a:srgbClr val="EEF6FF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4594"/>
                </a:solidFill>
              </a:defRPr>
            </a:pPr>
            <a:r>
              <a:rPr sz="1200"/>
              <a:t>Cero VPN ni Permisos de 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89120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240"/>
                </a:solidFill>
              </a:defRPr>
            </a:pPr>
            <a:r>
              <a:rPr sz="1200"/>
              <a:t>Opera como una herramienta web ágil para el analista. No requiere apertura de puertos de firewall internos ni dependencias de Active Directory.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886200"/>
            <a:ext cx="530352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20" name="Rectangle 19"/>
          <p:cNvSpPr/>
          <p:nvPr/>
        </p:nvSpPr>
        <p:spPr>
          <a:xfrm>
            <a:off x="6217920" y="3886200"/>
            <a:ext cx="5303520" cy="411480"/>
          </a:xfrm>
          <a:prstGeom prst="rect">
            <a:avLst/>
          </a:prstGeom>
          <a:solidFill>
            <a:srgbClr val="EEF6FF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4594"/>
                </a:solidFill>
              </a:defRPr>
            </a:pPr>
            <a:r>
              <a:rPr sz="1200"/>
              <a:t>Control Humano (Human-in-the-Loop)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89120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240"/>
                </a:solidFill>
              </a:defRPr>
            </a:pPr>
            <a:r>
              <a:rPr sz="1200"/>
              <a:t>La IA audita, extrae y redacta en segundos; el analista humano valida en pantalla y confirma el ingreso. Máxima seguridad y gobernanza.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97880"/>
            <a:ext cx="11094415" cy="50292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7832"/>
                </a:solidFill>
              </a:defRPr>
            </a:pPr>
            <a:r>
              <a:t>Conclusión para Negocio y Ciberseguridad: Se puede desplegar y probar en días sin riesgo operativo ni auditorías de red complejas.</a:t>
            </a: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A274CB55-C45E-BAF9-2854-0984845492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99"/>
          <a:stretch>
            <a:fillRect/>
          </a:stretch>
        </p:blipFill>
        <p:spPr>
          <a:xfrm>
            <a:off x="7701173" y="210165"/>
            <a:ext cx="2082907" cy="7499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</TotalTime>
  <Words>2383</Words>
  <Application>Microsoft Office PowerPoint</Application>
  <PresentationFormat>Panorámica</PresentationFormat>
  <Paragraphs>183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Rodolfo Blasser</cp:lastModifiedBy>
  <cp:revision>1</cp:revision>
  <dcterms:created xsi:type="dcterms:W3CDTF">2013-01-27T09:14:16Z</dcterms:created>
  <dcterms:modified xsi:type="dcterms:W3CDTF">2026-10-29T17:09:09Z</dcterms:modified>
  <cp:category/>
</cp:coreProperties>
</file>